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126545-D56E-48D9-AE68-AC080C54AA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D121B8-6A1E-4F29-A916-7026F5E67E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25B5C-3E20-47D5-8FE3-566D381506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76D7BB-9CD5-4CEF-BBEE-CA55849A62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113EFE-D5BF-4D09-9F93-2CF74AEAF9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49901F-8444-4923-A157-496462C57F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12CCE3-6FB4-468D-8916-6F5A44560C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BC3C5B-5E10-4E8A-9F6A-4920F18D57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7DF4A3-A09F-4F87-B4D2-5DA60CF31C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5C178A-C09E-4106-B938-216A837361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233A0F-CB87-4575-A5BA-539CC04820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BEF4C7-2A01-417A-AC83-AEC858D72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5A7EC-54FC-4C31-B537-59547CF398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533861-F730-41C4-A98F-3C1BAAB53B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Relationship Id="rIdAuditScreenshot" Type="http://schemas.openxmlformats.org/officeDocument/2006/relationships/image" Target="../media/crm_actual_ui_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67000" y="5302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 err="1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Kvalifikācijas</a:t>
            </a:r>
            <a:r>
              <a:rPr lang="en-US" sz="1100" b="1" u="none" strike="noStrike" dirty="0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1" u="none" strike="noStrike" dirty="0" err="1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darba</a:t>
            </a:r>
            <a:r>
              <a:rPr lang="en-US" sz="1100" b="1" u="none" strike="noStrike" dirty="0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1" u="none" strike="noStrike" dirty="0" err="1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prezentācija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67000" y="960120"/>
            <a:ext cx="635472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CRM sistēmas prototipa izstrāde pakalpojumu uzņēmuma darbu un rēķinu pārvaldībai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566640" y="2633400"/>
            <a:ext cx="1417320" cy="360"/>
          </a:xfrm>
          <a:prstGeom prst="line">
            <a:avLst/>
          </a:prstGeom>
          <a:ln w="381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67000" y="297180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Ronalds Gigelis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67000" y="331020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9. grupa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Rīga, 2026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812280" y="841320"/>
            <a:ext cx="4708800" cy="4891680"/>
          </a:xfrm>
          <a:prstGeom prst="roundRect">
            <a:avLst>
              <a:gd name="adj" fmla="val 2330"/>
            </a:avLst>
          </a:prstGeom>
          <a:solidFill>
            <a:srgbClr val="0F172A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7150680" y="11156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Prezentācijas saturs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150680" y="1435100"/>
            <a:ext cx="3937000" cy="25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CRM prototipa galvenās daļas</a:t>
            </a:r>
            <a:endParaRPr lang="en-US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7150680" y="1874520"/>
            <a:ext cx="394992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7150680" y="1874520"/>
            <a:ext cx="63720" cy="43848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7360920" y="1962150"/>
            <a:ext cx="34704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7818120" y="1949450"/>
            <a:ext cx="30734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Aktualitāte un problēma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7150680" y="2496240"/>
            <a:ext cx="394992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7150680" y="2496240"/>
            <a:ext cx="63720" cy="438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360920" y="2583942"/>
            <a:ext cx="34704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818120" y="2571242"/>
            <a:ext cx="30734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Mērķis un uzdevumi</a:t>
            </a:r>
            <a:endParaRPr lang="en-US" sz="13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7150680" y="3117960"/>
            <a:ext cx="394992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150680" y="3117960"/>
            <a:ext cx="63720" cy="438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7360920" y="3205734"/>
            <a:ext cx="34704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7818120" y="3193034"/>
            <a:ext cx="30734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Tehnoloģijas un arhitektūra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7150680" y="3740040"/>
            <a:ext cx="394992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7150680" y="3740040"/>
            <a:ext cx="63720" cy="438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7360920" y="3827526"/>
            <a:ext cx="34704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7818120" y="3814826"/>
            <a:ext cx="30734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Datubāze un funkcionalitāte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7150680" y="4361760"/>
            <a:ext cx="394992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150680" y="4361760"/>
            <a:ext cx="63720" cy="43848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360920" y="4449318"/>
            <a:ext cx="34704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7818120" y="4436618"/>
            <a:ext cx="30734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Secinājumi un attīstība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7543800" y="5422900"/>
            <a:ext cx="3200400" cy="360"/>
          </a:xfrm>
          <a:prstGeom prst="line">
            <a:avLst/>
          </a:prstGeom>
          <a:ln w="16510">
            <a:solidFill>
              <a:srgbClr val="21D4FD">
                <a:alpha val="80000"/>
              </a:srgbClr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239000" y="4864100"/>
            <a:ext cx="3898900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Vienots skats uz klientiem, darbiem, meistariem un rēķiniem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4303F89-A1AA-4C8D-8611-B9DF68C28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Darba </a:t>
            </a:r>
            <a:r>
              <a:rPr lang="en-US" sz="25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aktualitāte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Kāpēc </a:t>
            </a:r>
            <a:r>
              <a:rPr lang="en-US" sz="1150" dirty="0">
                <a:solidFill>
                  <a:srgbClr val="CBD5E1"/>
                </a:solidFill>
                <a:latin typeface="Calibri"/>
                <a:ea typeface="Calibri"/>
              </a:rPr>
              <a:t>nepiecie</a:t>
            </a:r>
            <a:r>
              <a:rPr lang="lv-LV" sz="1150" dirty="0">
                <a:solidFill>
                  <a:srgbClr val="CBD5E1"/>
                </a:solidFill>
                <a:latin typeface="Calibri"/>
                <a:ea typeface="Calibri"/>
              </a:rPr>
              <a:t>šams CRM risinājums</a:t>
            </a:r>
            <a:endParaRPr lang="en-US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685800" y="1325880"/>
            <a:ext cx="2057040" cy="959760"/>
          </a:xfrm>
          <a:prstGeom prst="roundRect">
            <a:avLst>
              <a:gd name="adj" fmla="val 11429"/>
            </a:avLst>
          </a:prstGeom>
          <a:solidFill>
            <a:srgbClr val="101A2E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850320" y="153612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Excel faili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850320" y="1866900"/>
            <a:ext cx="1737000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dati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8"/>
          <p:cNvSpPr/>
          <p:nvPr/>
        </p:nvSpPr>
        <p:spPr>
          <a:xfrm>
            <a:off x="3246120" y="1325880"/>
            <a:ext cx="2057040" cy="959760"/>
          </a:xfrm>
          <a:prstGeom prst="roundRect">
            <a:avLst>
              <a:gd name="adj" fmla="val 11429"/>
            </a:avLst>
          </a:prstGeom>
          <a:solidFill>
            <a:srgbClr val="101A2E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3410640" y="153612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E-pasti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3410640" y="1866900"/>
            <a:ext cx="1737000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komunikācija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5806440" y="1325880"/>
            <a:ext cx="2057040" cy="959760"/>
          </a:xfrm>
          <a:prstGeom prst="roundRect">
            <a:avLst>
              <a:gd name="adj" fmla="val 11429"/>
            </a:avLst>
          </a:prstGeom>
          <a:solidFill>
            <a:srgbClr val="101A2E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5970960" y="153612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Sarakstes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5970960" y="1866900"/>
            <a:ext cx="1737000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darbi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6"/>
          <p:cNvSpPr/>
          <p:nvPr/>
        </p:nvSpPr>
        <p:spPr>
          <a:xfrm>
            <a:off x="8366760" y="1325880"/>
            <a:ext cx="2057040" cy="959760"/>
          </a:xfrm>
          <a:prstGeom prst="roundRect">
            <a:avLst>
              <a:gd name="adj" fmla="val 11429"/>
            </a:avLst>
          </a:prstGeom>
          <a:solidFill>
            <a:srgbClr val="101A2E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8531280" y="153612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Atsevišķi rēķini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8531280" y="1866900"/>
            <a:ext cx="1737000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dokumenti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9"/>
          <p:cNvSpPr/>
          <p:nvPr/>
        </p:nvSpPr>
        <p:spPr>
          <a:xfrm>
            <a:off x="960120" y="2809035"/>
            <a:ext cx="10240920" cy="1965600"/>
          </a:xfrm>
          <a:prstGeom prst="roundRect">
            <a:avLst>
              <a:gd name="adj" fmla="val 5581"/>
            </a:avLst>
          </a:prstGeom>
          <a:solidFill>
            <a:srgbClr val="111C31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0"/>
          <p:cNvSpPr/>
          <p:nvPr/>
        </p:nvSpPr>
        <p:spPr>
          <a:xfrm>
            <a:off x="1325880" y="331422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1"/>
          <p:cNvSpPr/>
          <p:nvPr/>
        </p:nvSpPr>
        <p:spPr>
          <a:xfrm>
            <a:off x="1527120" y="3183795"/>
            <a:ext cx="918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Dati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bieži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tiek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glabāti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Excel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failos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, e-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pastos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un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sarakstēs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2"/>
          <p:cNvSpPr/>
          <p:nvPr/>
        </p:nvSpPr>
        <p:spPr>
          <a:xfrm>
            <a:off x="1325880" y="370375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3"/>
          <p:cNvSpPr/>
          <p:nvPr/>
        </p:nvSpPr>
        <p:spPr>
          <a:xfrm>
            <a:off x="1527120" y="3567915"/>
            <a:ext cx="918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Informācija nav vienā sistēmā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4"/>
          <p:cNvSpPr/>
          <p:nvPr/>
        </p:nvSpPr>
        <p:spPr>
          <a:xfrm>
            <a:off x="1325880" y="4091065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5"/>
          <p:cNvSpPr/>
          <p:nvPr/>
        </p:nvSpPr>
        <p:spPr>
          <a:xfrm>
            <a:off x="1527120" y="3952035"/>
            <a:ext cx="918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Pieaugot darbu skaitam, palielinās kļūdu risks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6"/>
          <p:cNvSpPr/>
          <p:nvPr/>
        </p:nvSpPr>
        <p:spPr>
          <a:xfrm>
            <a:off x="1325880" y="4480955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7"/>
          <p:cNvSpPr/>
          <p:nvPr/>
        </p:nvSpPr>
        <p:spPr>
          <a:xfrm>
            <a:off x="1527120" y="4336155"/>
            <a:ext cx="918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Nepieciešams vienkāršs CRM risinājums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8"/>
          <p:cNvSpPr/>
          <p:nvPr/>
        </p:nvSpPr>
        <p:spPr>
          <a:xfrm>
            <a:off x="1968500" y="5143500"/>
            <a:ext cx="8255000" cy="431800"/>
          </a:xfrm>
          <a:prstGeom prst="roundRect">
            <a:avLst>
              <a:gd name="adj" fmla="val 28571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9"/>
          <p:cNvSpPr/>
          <p:nvPr/>
        </p:nvSpPr>
        <p:spPr>
          <a:xfrm>
            <a:off x="2120900" y="5219700"/>
            <a:ext cx="79502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CRM centralizē datus: mazāk kļūdu, ātrāka pārskatāmība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9B28D43-405F-494B-B60D-F3EEDE22D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00" name="Audit improvement 1100"/>
          <p:cNvSpPr/>
          <p:nvPr/>
        </p:nvSpPr>
        <p:spPr>
          <a:xfrm>
            <a:off x="2819400" y="1651000"/>
            <a:ext cx="266700" cy="317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+</a:t>
            </a:r>
          </a:p>
        </p:txBody>
      </p:sp>
      <p:sp>
        <p:nvSpPr>
          <p:cNvPr id="1101" name="Audit improvement 1101"/>
          <p:cNvSpPr/>
          <p:nvPr/>
        </p:nvSpPr>
        <p:spPr>
          <a:xfrm>
            <a:off x="5379720" y="1651000"/>
            <a:ext cx="266700" cy="317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+</a:t>
            </a:r>
          </a:p>
        </p:txBody>
      </p:sp>
      <p:sp>
        <p:nvSpPr>
          <p:cNvPr id="1102" name="Audit improvement 1102"/>
          <p:cNvSpPr/>
          <p:nvPr/>
        </p:nvSpPr>
        <p:spPr>
          <a:xfrm>
            <a:off x="7940040" y="1651000"/>
            <a:ext cx="266700" cy="317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+</a:t>
            </a:r>
          </a:p>
        </p:txBody>
      </p:sp>
      <p:sp>
        <p:nvSpPr>
          <p:cNvPr id="1103" name="Audit improvement 1103"/>
          <p:cNvSpPr/>
          <p:nvPr/>
        </p:nvSpPr>
        <p:spPr>
          <a:xfrm>
            <a:off x="1054100" y="2425700"/>
            <a:ext cx="9639300" cy="292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Atsevišķi informācijas avoti — dati nav centralizēti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567000" y="311040"/>
            <a:ext cx="7680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Problēma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576000" y="749880"/>
            <a:ext cx="6857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Kas </a:t>
            </a:r>
            <a:r>
              <a:rPr lang="lv-LV" sz="1050" dirty="0">
                <a:solidFill>
                  <a:srgbClr val="CBD5E1"/>
                </a:solidFill>
                <a:latin typeface="Calibri"/>
                <a:ea typeface="Calibri"/>
              </a:rPr>
              <a:t>apgrūtina</a:t>
            </a:r>
            <a:r>
              <a:rPr lang="en-US" sz="10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 pakalpojumu uzņēmuma darbu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822960" y="1325880"/>
            <a:ext cx="4800240" cy="150840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1115640" y="1673280"/>
            <a:ext cx="456840" cy="456840"/>
          </a:xfrm>
          <a:prstGeom prst="ellipse">
            <a:avLst/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1252800" y="1783080"/>
            <a:ext cx="1825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1783080" y="171900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Grūti pārskatīt aktuālos darbus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8"/>
          <p:cNvSpPr/>
          <p:nvPr/>
        </p:nvSpPr>
        <p:spPr>
          <a:xfrm>
            <a:off x="6537960" y="1325880"/>
            <a:ext cx="4800240" cy="150840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6830640" y="1673280"/>
            <a:ext cx="456840" cy="456840"/>
          </a:xfrm>
          <a:prstGeom prst="ellipse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6967800" y="1783080"/>
            <a:ext cx="1825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7498080" y="171900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Grūti kontrolēt meistaru piesaisti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2"/>
          <p:cNvSpPr/>
          <p:nvPr/>
        </p:nvSpPr>
        <p:spPr>
          <a:xfrm>
            <a:off x="822960" y="3703320"/>
            <a:ext cx="4800240" cy="150840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1115640" y="4050720"/>
            <a:ext cx="456840" cy="456840"/>
          </a:xfrm>
          <a:prstGeom prst="ellipse">
            <a:avLst/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1252800" y="4160520"/>
            <a:ext cx="1825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5"/>
          <p:cNvSpPr/>
          <p:nvPr/>
        </p:nvSpPr>
        <p:spPr>
          <a:xfrm>
            <a:off x="1783080" y="409644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Nav ērti sekot rēķinu apmaksai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6537960" y="3703320"/>
            <a:ext cx="4800240" cy="150840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7"/>
          <p:cNvSpPr/>
          <p:nvPr/>
        </p:nvSpPr>
        <p:spPr>
          <a:xfrm>
            <a:off x="6830640" y="4050720"/>
            <a:ext cx="456840" cy="456840"/>
          </a:xfrm>
          <a:prstGeom prst="ellipse">
            <a:avLst/>
          </a:prstGeom>
          <a:solidFill>
            <a:srgbClr val="21D4FD">
              <a:alpha val="9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8"/>
          <p:cNvSpPr/>
          <p:nvPr/>
        </p:nvSpPr>
        <p:spPr>
          <a:xfrm>
            <a:off x="6967800" y="4160520"/>
            <a:ext cx="1825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9"/>
          <p:cNvSpPr/>
          <p:nvPr/>
        </p:nvSpPr>
        <p:spPr>
          <a:xfrm>
            <a:off x="7498080" y="409644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Klientu, darbu un rēķinu dati nav centralizēti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0"/>
          <p:cNvSpPr/>
          <p:nvPr/>
        </p:nvSpPr>
        <p:spPr>
          <a:xfrm>
            <a:off x="4815480" y="2971980"/>
            <a:ext cx="2561040" cy="603360"/>
          </a:xfrm>
          <a:prstGeom prst="roundRect">
            <a:avLst>
              <a:gd name="adj" fmla="val 13636"/>
            </a:avLst>
          </a:prstGeom>
          <a:solidFill>
            <a:srgbClr val="08111F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1"/>
          <p:cNvSpPr/>
          <p:nvPr/>
        </p:nvSpPr>
        <p:spPr>
          <a:xfrm>
            <a:off x="4998360" y="3218940"/>
            <a:ext cx="2225123" cy="1712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Pārskatāmības trūkums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20204BD-8185-41AF-8B97-52762EA22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Darba mērķis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lv-LV" sz="1150" dirty="0">
                <a:solidFill>
                  <a:srgbClr val="CBD5E1"/>
                </a:solidFill>
                <a:latin typeface="Calibri"/>
              </a:rPr>
              <a:t>Sasniedzamais rezultāts</a:t>
            </a:r>
            <a:endParaRPr lang="en-US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822960" y="1325880"/>
            <a:ext cx="10560960" cy="1206720"/>
          </a:xfrm>
          <a:prstGeom prst="roundRect">
            <a:avLst>
              <a:gd name="adj" fmla="val 9091"/>
            </a:avLst>
          </a:prstGeom>
          <a:solidFill>
            <a:srgbClr val="10213A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1143000" y="1664280"/>
            <a:ext cx="9875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Izstrādāt tīmekļa CRM sistēmas </a:t>
            </a:r>
            <a:r>
              <a:rPr lang="en-US" sz="20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prototipu</a:t>
            </a:r>
            <a:r>
              <a:rPr lang="en-US" sz="20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pakalpojumu </a:t>
            </a:r>
            <a:r>
              <a:rPr lang="en-US" sz="20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uzņēmumam</a:t>
            </a:r>
            <a:r>
              <a:rPr lang="en-US" sz="20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896040" y="2788920"/>
            <a:ext cx="45716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Sistēmai jāļauj pārvaldīt: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960120" y="3337560"/>
            <a:ext cx="2029680" cy="621360"/>
          </a:xfrm>
          <a:prstGeom prst="roundRect">
            <a:avLst>
              <a:gd name="adj" fmla="val 17647"/>
            </a:avLst>
          </a:prstGeom>
          <a:solidFill>
            <a:srgbClr val="111A2E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8"/>
          <p:cNvSpPr/>
          <p:nvPr/>
        </p:nvSpPr>
        <p:spPr>
          <a:xfrm>
            <a:off x="1069920" y="3529440"/>
            <a:ext cx="1810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klientus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9"/>
          <p:cNvSpPr/>
          <p:nvPr/>
        </p:nvSpPr>
        <p:spPr>
          <a:xfrm>
            <a:off x="3611880" y="3337560"/>
            <a:ext cx="2029680" cy="621360"/>
          </a:xfrm>
          <a:prstGeom prst="roundRect">
            <a:avLst>
              <a:gd name="adj" fmla="val 17647"/>
            </a:avLst>
          </a:prstGeom>
          <a:solidFill>
            <a:srgbClr val="111A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3721680" y="3529440"/>
            <a:ext cx="1810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meistarus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6263640" y="3337560"/>
            <a:ext cx="2029680" cy="621360"/>
          </a:xfrm>
          <a:prstGeom prst="roundRect">
            <a:avLst>
              <a:gd name="adj" fmla="val 17647"/>
            </a:avLst>
          </a:prstGeom>
          <a:solidFill>
            <a:srgbClr val="111A2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6373440" y="3529440"/>
            <a:ext cx="1810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2304360" y="4343400"/>
            <a:ext cx="2029680" cy="621360"/>
          </a:xfrm>
          <a:prstGeom prst="roundRect">
            <a:avLst>
              <a:gd name="adj" fmla="val 17647"/>
            </a:avLst>
          </a:prstGeom>
          <a:solidFill>
            <a:srgbClr val="111A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4"/>
          <p:cNvSpPr/>
          <p:nvPr/>
        </p:nvSpPr>
        <p:spPr>
          <a:xfrm>
            <a:off x="2414160" y="4535280"/>
            <a:ext cx="1810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rēķinus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5"/>
          <p:cNvSpPr/>
          <p:nvPr/>
        </p:nvSpPr>
        <p:spPr>
          <a:xfrm>
            <a:off x="4956120" y="4343400"/>
            <a:ext cx="2029680" cy="621360"/>
          </a:xfrm>
          <a:prstGeom prst="roundRect">
            <a:avLst>
              <a:gd name="adj" fmla="val 17647"/>
            </a:avLst>
          </a:prstGeom>
          <a:solidFill>
            <a:srgbClr val="111A2E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6"/>
          <p:cNvSpPr/>
          <p:nvPr/>
        </p:nvSpPr>
        <p:spPr>
          <a:xfrm>
            <a:off x="5065920" y="4535280"/>
            <a:ext cx="1810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apmaksas statusus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7"/>
          <p:cNvSpPr/>
          <p:nvPr/>
        </p:nvSpPr>
        <p:spPr>
          <a:xfrm>
            <a:off x="8641080" y="2907720"/>
            <a:ext cx="2422800" cy="233136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8"/>
          <p:cNvSpPr/>
          <p:nvPr/>
        </p:nvSpPr>
        <p:spPr>
          <a:xfrm>
            <a:off x="8915400" y="3246120"/>
            <a:ext cx="1874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Lokāls prototips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9"/>
          <p:cNvSpPr/>
          <p:nvPr/>
        </p:nvSpPr>
        <p:spPr>
          <a:xfrm>
            <a:off x="8864600" y="3683000"/>
            <a:ext cx="1968500" cy="104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 err="1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Demonstrējams</a:t>
            </a:r>
            <a:r>
              <a:rPr lang="en-US" sz="13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 risinājums, kuru </a:t>
            </a:r>
            <a:r>
              <a:rPr lang="en-US" sz="1350" b="0" u="none" strike="noStrike" dirty="0" err="1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nākotnē</a:t>
            </a:r>
            <a:r>
              <a:rPr lang="en-US" sz="13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 var </a:t>
            </a:r>
            <a:r>
              <a:rPr lang="en-US" sz="1350" b="0" u="none" strike="noStrike" dirty="0" err="1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paplašināt</a:t>
            </a:r>
            <a:r>
              <a:rPr lang="en-US" sz="13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78FA9B7-06DB-423D-906C-21097A79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Darba uzdevumi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Darba </a:t>
            </a:r>
            <a:r>
              <a:rPr lang="en-US" sz="1150" b="0" u="none" strike="noStrike" dirty="0" err="1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izstrādes</a:t>
            </a:r>
            <a:r>
              <a:rPr lang="en-US" sz="11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secība</a:t>
            </a:r>
            <a:endParaRPr lang="en-US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1216080" y="1709640"/>
            <a:ext cx="360" cy="3566160"/>
          </a:xfrm>
          <a:prstGeom prst="line">
            <a:avLst/>
          </a:prstGeom>
          <a:ln w="254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1051560" y="1417320"/>
            <a:ext cx="328680" cy="3286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B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1079500" y="1441450"/>
            <a:ext cx="2794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1645920" y="1362600"/>
            <a:ext cx="941796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1828800" y="1416050"/>
            <a:ext cx="886932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Analizēt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pakalpojumu uzņēmuma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darba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procesu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1051560" y="2130480"/>
            <a:ext cx="328680" cy="3286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B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1079500" y="2154682"/>
            <a:ext cx="2794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1645920" y="2075760"/>
            <a:ext cx="941796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1828800" y="2129282"/>
            <a:ext cx="886932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Definēt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sistēmas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prasības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1051560" y="2843640"/>
            <a:ext cx="328680" cy="3286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B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1079500" y="2867914"/>
            <a:ext cx="2794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1645920" y="2788920"/>
            <a:ext cx="941796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1828800" y="2842514"/>
            <a:ext cx="886932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Izveidot datubāzes struktūru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7"/>
          <p:cNvSpPr/>
          <p:nvPr/>
        </p:nvSpPr>
        <p:spPr>
          <a:xfrm>
            <a:off x="1051560" y="3557160"/>
            <a:ext cx="328680" cy="3286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B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1079500" y="3581146"/>
            <a:ext cx="2794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1645920" y="3502080"/>
            <a:ext cx="941796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0"/>
          <p:cNvSpPr/>
          <p:nvPr/>
        </p:nvSpPr>
        <p:spPr>
          <a:xfrm>
            <a:off x="1828800" y="3555746"/>
            <a:ext cx="886932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Realizēt PHP/MySQL lietotni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1"/>
          <p:cNvSpPr/>
          <p:nvPr/>
        </p:nvSpPr>
        <p:spPr>
          <a:xfrm>
            <a:off x="1051560" y="4270320"/>
            <a:ext cx="328680" cy="3286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B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2"/>
          <p:cNvSpPr/>
          <p:nvPr/>
        </p:nvSpPr>
        <p:spPr>
          <a:xfrm>
            <a:off x="1079500" y="4294378"/>
            <a:ext cx="2794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3"/>
          <p:cNvSpPr/>
          <p:nvPr/>
        </p:nvSpPr>
        <p:spPr>
          <a:xfrm>
            <a:off x="1645920" y="4215240"/>
            <a:ext cx="941796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4"/>
          <p:cNvSpPr/>
          <p:nvPr/>
        </p:nvSpPr>
        <p:spPr>
          <a:xfrm>
            <a:off x="1828800" y="4268978"/>
            <a:ext cx="886932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Izveidot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rēķinu un PDF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funkcionalitāti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5"/>
          <p:cNvSpPr/>
          <p:nvPr/>
        </p:nvSpPr>
        <p:spPr>
          <a:xfrm>
            <a:off x="1051560" y="4983480"/>
            <a:ext cx="328680" cy="32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B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6"/>
          <p:cNvSpPr/>
          <p:nvPr/>
        </p:nvSpPr>
        <p:spPr>
          <a:xfrm>
            <a:off x="1079500" y="5007610"/>
            <a:ext cx="27940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7"/>
          <p:cNvSpPr/>
          <p:nvPr/>
        </p:nvSpPr>
        <p:spPr>
          <a:xfrm>
            <a:off x="1645920" y="4928760"/>
            <a:ext cx="9417960" cy="438480"/>
          </a:xfrm>
          <a:prstGeom prst="roundRect">
            <a:avLst>
              <a:gd name="adj" fmla="val 25000"/>
            </a:avLst>
          </a:prstGeom>
          <a:solidFill>
            <a:srgbClr val="111A2E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8"/>
          <p:cNvSpPr/>
          <p:nvPr/>
        </p:nvSpPr>
        <p:spPr>
          <a:xfrm>
            <a:off x="1828800" y="4982210"/>
            <a:ext cx="886932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Veikt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sistēmas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testēšanu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08B5A35-8F0D-41A8-A1D6-E49931070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Izmantotās tehnoloģijas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Tehnoloģiju steks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4"/>
          <p:cNvSpPr/>
          <p:nvPr/>
        </p:nvSpPr>
        <p:spPr>
          <a:xfrm>
            <a:off x="822960" y="1371600"/>
            <a:ext cx="2148480" cy="123408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822960" y="1371600"/>
            <a:ext cx="2148480" cy="7272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969120" y="1676400"/>
            <a:ext cx="184680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PHP 8.1+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969120" y="2120900"/>
            <a:ext cx="1846800" cy="4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servera puses loģika</a:t>
            </a:r>
          </a:p>
        </p:txBody>
      </p:sp>
      <p:sp>
        <p:nvSpPr>
          <p:cNvPr id="208" name="Shape 18"/>
          <p:cNvSpPr/>
          <p:nvPr/>
        </p:nvSpPr>
        <p:spPr>
          <a:xfrm>
            <a:off x="3154680" y="1371600"/>
            <a:ext cx="2148480" cy="123408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3154680" y="1371600"/>
            <a:ext cx="2148480" cy="72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3300840" y="1676400"/>
            <a:ext cx="184680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MySQL/MariaDB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3300840" y="2120900"/>
            <a:ext cx="1846800" cy="4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relāciju datubāze</a:t>
            </a:r>
          </a:p>
        </p:txBody>
      </p:sp>
      <p:sp>
        <p:nvSpPr>
          <p:cNvPr id="212" name="Shape 22"/>
          <p:cNvSpPr/>
          <p:nvPr/>
        </p:nvSpPr>
        <p:spPr>
          <a:xfrm>
            <a:off x="5486400" y="1371600"/>
            <a:ext cx="2148480" cy="123408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3"/>
          <p:cNvSpPr/>
          <p:nvPr/>
        </p:nvSpPr>
        <p:spPr>
          <a:xfrm>
            <a:off x="5486400" y="1371600"/>
            <a:ext cx="2148480" cy="72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5632560" y="1676400"/>
            <a:ext cx="184680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PDO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5632560" y="2120900"/>
            <a:ext cx="1846800" cy="4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sagatavotie SQL vaicājumi</a:t>
            </a:r>
          </a:p>
        </p:txBody>
      </p:sp>
      <p:sp>
        <p:nvSpPr>
          <p:cNvPr id="216" name="Shape 26"/>
          <p:cNvSpPr/>
          <p:nvPr/>
        </p:nvSpPr>
        <p:spPr>
          <a:xfrm>
            <a:off x="7818120" y="1371600"/>
            <a:ext cx="2148480" cy="123408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7"/>
          <p:cNvSpPr/>
          <p:nvPr/>
        </p:nvSpPr>
        <p:spPr>
          <a:xfrm>
            <a:off x="7818120" y="1371600"/>
            <a:ext cx="2148480" cy="7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7964280" y="1562100"/>
            <a:ext cx="1846800" cy="54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HTML, CSS,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JavaScript</a:t>
            </a:r>
          </a:p>
        </p:txBody>
      </p:sp>
      <p:sp>
        <p:nvSpPr>
          <p:cNvPr id="219" name="Text 29"/>
          <p:cNvSpPr/>
          <p:nvPr/>
        </p:nvSpPr>
        <p:spPr>
          <a:xfrm>
            <a:off x="7964280" y="2120900"/>
            <a:ext cx="1846800" cy="4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lietotāja saskarne</a:t>
            </a:r>
          </a:p>
        </p:txBody>
      </p:sp>
      <p:sp>
        <p:nvSpPr>
          <p:cNvPr id="220" name="Shape 30"/>
          <p:cNvSpPr/>
          <p:nvPr/>
        </p:nvSpPr>
        <p:spPr>
          <a:xfrm>
            <a:off x="1508760" y="3246120"/>
            <a:ext cx="2148480" cy="123408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1"/>
          <p:cNvSpPr/>
          <p:nvPr/>
        </p:nvSpPr>
        <p:spPr>
          <a:xfrm>
            <a:off x="1508760" y="3246120"/>
            <a:ext cx="2148480" cy="7272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1654920" y="3543300"/>
            <a:ext cx="184680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Composer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3"/>
          <p:cNvSpPr/>
          <p:nvPr/>
        </p:nvSpPr>
        <p:spPr>
          <a:xfrm>
            <a:off x="1654920" y="3987800"/>
            <a:ext cx="1846800" cy="4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atkarību pārvaldība</a:t>
            </a:r>
          </a:p>
        </p:txBody>
      </p:sp>
      <p:sp>
        <p:nvSpPr>
          <p:cNvPr id="224" name="Shape 34"/>
          <p:cNvSpPr/>
          <p:nvPr/>
        </p:nvSpPr>
        <p:spPr>
          <a:xfrm>
            <a:off x="4434840" y="3246120"/>
            <a:ext cx="2148480" cy="123408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5"/>
          <p:cNvSpPr/>
          <p:nvPr/>
        </p:nvSpPr>
        <p:spPr>
          <a:xfrm>
            <a:off x="4434840" y="3246120"/>
            <a:ext cx="2148480" cy="72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6"/>
          <p:cNvSpPr/>
          <p:nvPr/>
        </p:nvSpPr>
        <p:spPr>
          <a:xfrm>
            <a:off x="4581000" y="3543300"/>
            <a:ext cx="184680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Dompdf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7"/>
          <p:cNvSpPr/>
          <p:nvPr/>
        </p:nvSpPr>
        <p:spPr>
          <a:xfrm>
            <a:off x="4581000" y="3987800"/>
            <a:ext cx="1846800" cy="4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PDF rēķinu ģenerēšana</a:t>
            </a:r>
          </a:p>
        </p:txBody>
      </p:sp>
      <p:sp>
        <p:nvSpPr>
          <p:cNvPr id="228" name="Shape 38"/>
          <p:cNvSpPr/>
          <p:nvPr/>
        </p:nvSpPr>
        <p:spPr>
          <a:xfrm>
            <a:off x="7360920" y="3246120"/>
            <a:ext cx="2148480" cy="123408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39"/>
          <p:cNvSpPr/>
          <p:nvPr/>
        </p:nvSpPr>
        <p:spPr>
          <a:xfrm>
            <a:off x="7360920" y="3246120"/>
            <a:ext cx="2148480" cy="72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0"/>
          <p:cNvSpPr/>
          <p:nvPr/>
        </p:nvSpPr>
        <p:spPr>
          <a:xfrm>
            <a:off x="7507080" y="3543300"/>
            <a:ext cx="184680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Git/GitHub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1"/>
          <p:cNvSpPr/>
          <p:nvPr/>
        </p:nvSpPr>
        <p:spPr>
          <a:xfrm>
            <a:off x="7507080" y="3987800"/>
            <a:ext cx="1846800" cy="4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versiju kontrole</a:t>
            </a:r>
          </a:p>
        </p:txBody>
      </p:sp>
      <p:sp>
        <p:nvSpPr>
          <p:cNvPr id="232" name="Shape 42"/>
          <p:cNvSpPr/>
          <p:nvPr/>
        </p:nvSpPr>
        <p:spPr>
          <a:xfrm>
            <a:off x="2240280" y="5156200"/>
            <a:ext cx="7680600" cy="457200"/>
          </a:xfrm>
          <a:prstGeom prst="roundRect">
            <a:avLst>
              <a:gd name="adj" fmla="val 28571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3"/>
          <p:cNvSpPr/>
          <p:nvPr/>
        </p:nvSpPr>
        <p:spPr>
          <a:xfrm>
            <a:off x="2313360" y="5219700"/>
            <a:ext cx="753444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PHP + MySQL + Dompdf = demonstrējama CRM lietotne ar PDF rēķiniem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5CCD1BB-E0A0-4DDB-92E3-3594C1118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Sistēmas </a:t>
            </a:r>
            <a:r>
              <a:rPr lang="en-US" sz="25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arhitektūra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Vienkāršota MVC tipa struktūra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464D3E4-A415-4142-8748-C5088D231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001" name="">
            <a:extLst>
              <a:ext uri="{FF2B5EF4-FFF2-40B4-BE49-F238E27FC236}">
                <a16:creationId xmlns:a16="http://schemas.microsoft.com/office/drawing/2014/main" id="{F44B346A-505C-4AEC-944D-3233382ED7DE}"/>
              </a:ext>
            </a:extLst>
          </p:cNvPr>
          <p:cNvCxnSpPr>
            <a:stCxn id="1022" idx="1"/>
            <a:endCxn id="1025" idx="3"/>
          </p:cNvCxnSpPr>
          <p:nvPr/>
        </p:nvCxnSpPr>
        <p:spPr>
          <a:xfrm flipH="1">
            <a:off x="3492500" y="4330700"/>
            <a:ext cx="2476500" cy="0"/>
          </a:xfrm>
          <a:prstGeom prst="straightConnector1">
            <a:avLst/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cxnSp>
        <p:nvCxnSpPr>
          <p:cNvPr id="1002" name="">
            <a:extLst>
              <a:ext uri="{FF2B5EF4-FFF2-40B4-BE49-F238E27FC236}">
                <a16:creationId xmlns:a16="http://schemas.microsoft.com/office/drawing/2014/main" id="{8B26FA06-7E1E-4952-B0C0-13079CCDE7A5}"/>
              </a:ext>
            </a:extLst>
          </p:cNvPr>
          <p:cNvCxnSpPr>
            <a:stCxn id="1013" idx="2"/>
            <a:endCxn id="1022" idx="0"/>
          </p:cNvCxnSpPr>
          <p:nvPr/>
        </p:nvCxnSpPr>
        <p:spPr>
          <a:xfrm>
            <a:off x="7112000" y="2628900"/>
            <a:ext cx="0" cy="1181100"/>
          </a:xfrm>
          <a:prstGeom prst="straightConnector1">
            <a:avLst/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cxnSp>
        <p:nvCxnSpPr>
          <p:cNvPr id="1003" name="">
            <a:extLst>
              <a:ext uri="{FF2B5EF4-FFF2-40B4-BE49-F238E27FC236}">
                <a16:creationId xmlns:a16="http://schemas.microsoft.com/office/drawing/2014/main" id="{D173FB3E-A50D-446F-9C17-D06E2B8C97A9}"/>
              </a:ext>
            </a:extLst>
          </p:cNvPr>
          <p:cNvCxnSpPr>
            <a:stCxn id="1016" idx="2"/>
            <a:endCxn id="1019" idx="0"/>
          </p:cNvCxnSpPr>
          <p:nvPr/>
        </p:nvCxnSpPr>
        <p:spPr>
          <a:xfrm>
            <a:off x="10287000" y="2628900"/>
            <a:ext cx="0" cy="1181100"/>
          </a:xfrm>
          <a:prstGeom prst="straightConnector1">
            <a:avLst/>
          </a:prstGeom>
          <a:ln w="22860">
            <a:solidFill>
              <a:srgbClr val="21D4FD"/>
            </a:solidFill>
            <a:headEnd type="triangle" w="sm" len="sm"/>
            <a:tailEnd type="triangle" w="sm" len="sm"/>
          </a:ln>
        </p:spPr>
      </p:cxnSp>
      <p:cxnSp>
        <p:nvCxnSpPr>
          <p:cNvPr id="1004" name="">
            <a:extLst>
              <a:ext uri="{FF2B5EF4-FFF2-40B4-BE49-F238E27FC236}">
                <a16:creationId xmlns:a16="http://schemas.microsoft.com/office/drawing/2014/main" id="{1731C164-A13D-4602-B81F-7AC6AF2E1CCA}"/>
              </a:ext>
            </a:extLst>
          </p:cNvPr>
          <p:cNvCxnSpPr>
            <a:stCxn id="1013" idx="3"/>
            <a:endCxn id="1016" idx="1"/>
          </p:cNvCxnSpPr>
          <p:nvPr/>
        </p:nvCxnSpPr>
        <p:spPr>
          <a:xfrm>
            <a:off x="8255000" y="2108200"/>
            <a:ext cx="825500" cy="0"/>
          </a:xfrm>
          <a:prstGeom prst="straightConnector1">
            <a:avLst/>
          </a:prstGeom>
          <a:ln w="22860">
            <a:solidFill>
              <a:srgbClr val="21D4FD"/>
            </a:solidFill>
            <a:headEnd type="triangle" w="sm" len="sm"/>
            <a:tailEnd type="triangle" w="sm" len="sm"/>
          </a:ln>
        </p:spPr>
      </p:cxnSp>
      <p:cxnSp>
        <p:nvCxnSpPr>
          <p:cNvPr id="1005" name="">
            <a:extLst>
              <a:ext uri="{FF2B5EF4-FFF2-40B4-BE49-F238E27FC236}">
                <a16:creationId xmlns:a16="http://schemas.microsoft.com/office/drawing/2014/main" id="{98F43446-B0BF-4A87-8456-4CB37A763167}"/>
              </a:ext>
            </a:extLst>
          </p:cNvPr>
          <p:cNvCxnSpPr>
            <a:stCxn id="1010" idx="3"/>
            <a:endCxn id="1013" idx="1"/>
          </p:cNvCxnSpPr>
          <p:nvPr/>
        </p:nvCxnSpPr>
        <p:spPr>
          <a:xfrm>
            <a:off x="5397500" y="2108200"/>
            <a:ext cx="571500" cy="0"/>
          </a:xfrm>
          <a:prstGeom prst="straightConnector1">
            <a:avLst/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cxnSp>
        <p:nvCxnSpPr>
          <p:cNvPr id="1006" name="">
            <a:extLst>
              <a:ext uri="{FF2B5EF4-FFF2-40B4-BE49-F238E27FC236}">
                <a16:creationId xmlns:a16="http://schemas.microsoft.com/office/drawing/2014/main" id="{4D9B5C58-0736-430D-B00D-F17A13F15173}"/>
              </a:ext>
            </a:extLst>
          </p:cNvPr>
          <p:cNvCxnSpPr>
            <a:stCxn id="1007" idx="3"/>
            <a:endCxn id="1010" idx="1"/>
          </p:cNvCxnSpPr>
          <p:nvPr/>
        </p:nvCxnSpPr>
        <p:spPr>
          <a:xfrm>
            <a:off x="2667000" y="2108200"/>
            <a:ext cx="571500" cy="0"/>
          </a:xfrm>
          <a:prstGeom prst="straightConnector1">
            <a:avLst/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sp>
        <p:nvSpPr>
          <p:cNvPr id="1007" name="browser-request">
            <a:extLst>
              <a:ext uri="{FF2B5EF4-FFF2-40B4-BE49-F238E27FC236}">
                <a16:creationId xmlns:a16="http://schemas.microsoft.com/office/drawing/2014/main" id="{5C668771-785F-433E-AF09-EDB0F81E4904}"/>
              </a:ext>
            </a:extLst>
          </p:cNvPr>
          <p:cNvSpPr>
            <a:spLocks noGrp="1"/>
          </p:cNvSpPr>
          <p:nvPr/>
        </p:nvSpPr>
        <p:spPr>
          <a:xfrm>
            <a:off x="698500" y="1587500"/>
            <a:ext cx="1968500" cy="1041400"/>
          </a:xfrm>
          <a:prstGeom prst="roundRect">
            <a:avLst>
              <a:gd name="adj" fmla="val 10976"/>
            </a:avLst>
          </a:prstGeom>
          <a:solidFill>
            <a:srgbClr val="111A2E"/>
          </a:solidFill>
          <a:ln w="12700">
            <a:solidFill>
              <a:srgbClr val="21D4FD"/>
            </a:solidFill>
          </a:ln>
        </p:spPr>
      </p:sp>
      <p:sp>
        <p:nvSpPr>
          <p:cNvPr id="1008" name="browser-request title">
            <a:extLst>
              <a:ext uri="{FF2B5EF4-FFF2-40B4-BE49-F238E27FC236}">
                <a16:creationId xmlns:a16="http://schemas.microsoft.com/office/drawing/2014/main" id="{892C6C36-CBCC-4F8E-835B-A3D6BC898425}"/>
              </a:ext>
            </a:extLst>
          </p:cNvPr>
          <p:cNvSpPr>
            <a:spLocks noGrp="1"/>
          </p:cNvSpPr>
          <p:nvPr/>
        </p:nvSpPr>
        <p:spPr>
          <a:xfrm>
            <a:off x="812800" y="1727200"/>
            <a:ext cx="1739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Pārlūks</a:t>
            </a:r>
          </a:p>
        </p:txBody>
      </p:sp>
      <p:sp>
        <p:nvSpPr>
          <p:cNvPr id="1009" name="browser-request description">
            <a:extLst>
              <a:ext uri="{FF2B5EF4-FFF2-40B4-BE49-F238E27FC236}">
                <a16:creationId xmlns:a16="http://schemas.microsoft.com/office/drawing/2014/main" id="{362ECEDF-E741-4EE0-B604-88A09CE19114}"/>
              </a:ext>
            </a:extLst>
          </p:cNvPr>
          <p:cNvSpPr>
            <a:spLocks noGrp="1"/>
          </p:cNvSpPr>
          <p:nvPr/>
        </p:nvSpPr>
        <p:spPr>
          <a:xfrm>
            <a:off x="812800" y="2095500"/>
            <a:ext cx="1739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HTTP pieprasījums</a:t>
            </a:r>
          </a:p>
        </p:txBody>
      </p:sp>
      <p:sp>
        <p:nvSpPr>
          <p:cNvPr id="1010" name="entry-point">
            <a:extLst>
              <a:ext uri="{FF2B5EF4-FFF2-40B4-BE49-F238E27FC236}">
                <a16:creationId xmlns:a16="http://schemas.microsoft.com/office/drawing/2014/main" id="{5122E7ED-862B-47C7-9EA8-5C3AEEE90DCC}"/>
              </a:ext>
            </a:extLst>
          </p:cNvPr>
          <p:cNvSpPr>
            <a:spLocks noGrp="1"/>
          </p:cNvSpPr>
          <p:nvPr/>
        </p:nvSpPr>
        <p:spPr>
          <a:xfrm>
            <a:off x="3238500" y="1587500"/>
            <a:ext cx="2159000" cy="1041400"/>
          </a:xfrm>
          <a:prstGeom prst="roundRect">
            <a:avLst>
              <a:gd name="adj" fmla="val 10976"/>
            </a:avLst>
          </a:prstGeom>
          <a:solidFill>
            <a:srgbClr val="111A2E"/>
          </a:solidFill>
          <a:ln w="12700">
            <a:solidFill>
              <a:srgbClr val="22C55E"/>
            </a:solidFill>
          </a:ln>
        </p:spPr>
      </p:sp>
      <p:sp>
        <p:nvSpPr>
          <p:cNvPr id="1011" name="entry-point title">
            <a:extLst>
              <a:ext uri="{FF2B5EF4-FFF2-40B4-BE49-F238E27FC236}">
                <a16:creationId xmlns:a16="http://schemas.microsoft.com/office/drawing/2014/main" id="{79539E4F-8545-4E06-9541-6519C9B3AF2B}"/>
              </a:ext>
            </a:extLst>
          </p:cNvPr>
          <p:cNvSpPr>
            <a:spLocks noGrp="1"/>
          </p:cNvSpPr>
          <p:nvPr/>
        </p:nvSpPr>
        <p:spPr>
          <a:xfrm>
            <a:off x="3352800" y="1727200"/>
            <a:ext cx="1930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6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public/index.php</a:t>
            </a:r>
          </a:p>
        </p:txBody>
      </p:sp>
      <p:sp>
        <p:nvSpPr>
          <p:cNvPr id="1012" name="entry-point description">
            <a:extLst>
              <a:ext uri="{FF2B5EF4-FFF2-40B4-BE49-F238E27FC236}">
                <a16:creationId xmlns:a16="http://schemas.microsoft.com/office/drawing/2014/main" id="{43325878-74DC-4A27-B030-15B86223BE7B}"/>
              </a:ext>
            </a:extLst>
          </p:cNvPr>
          <p:cNvSpPr>
            <a:spLocks noGrp="1"/>
          </p:cNvSpPr>
          <p:nvPr/>
        </p:nvSpPr>
        <p:spPr>
          <a:xfrm>
            <a:off x="3352800" y="2095500"/>
            <a:ext cx="193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Ieejas punkts</a:t>
            </a:r>
          </a:p>
        </p:txBody>
      </p:sp>
      <p:sp>
        <p:nvSpPr>
          <p:cNvPr id="1013" name="controller">
            <a:extLst>
              <a:ext uri="{FF2B5EF4-FFF2-40B4-BE49-F238E27FC236}">
                <a16:creationId xmlns:a16="http://schemas.microsoft.com/office/drawing/2014/main" id="{5CE40A95-DAD5-4908-AEB8-D1833E7A1BFA}"/>
              </a:ext>
            </a:extLst>
          </p:cNvPr>
          <p:cNvSpPr>
            <a:spLocks noGrp="1"/>
          </p:cNvSpPr>
          <p:nvPr/>
        </p:nvSpPr>
        <p:spPr>
          <a:xfrm>
            <a:off x="5969000" y="1587500"/>
            <a:ext cx="2286000" cy="1041400"/>
          </a:xfrm>
          <a:prstGeom prst="roundRect">
            <a:avLst>
              <a:gd name="adj" fmla="val 10976"/>
            </a:avLst>
          </a:prstGeom>
          <a:solidFill>
            <a:srgbClr val="111A2E"/>
          </a:solidFill>
          <a:ln w="12700">
            <a:solidFill>
              <a:srgbClr val="7C3AED"/>
            </a:solidFill>
          </a:ln>
        </p:spPr>
      </p:sp>
      <p:sp>
        <p:nvSpPr>
          <p:cNvPr id="1014" name="controller title">
            <a:extLst>
              <a:ext uri="{FF2B5EF4-FFF2-40B4-BE49-F238E27FC236}">
                <a16:creationId xmlns:a16="http://schemas.microsoft.com/office/drawing/2014/main" id="{032599EA-73D3-4961-B80D-901B26595760}"/>
              </a:ext>
            </a:extLst>
          </p:cNvPr>
          <p:cNvSpPr>
            <a:spLocks noGrp="1"/>
          </p:cNvSpPr>
          <p:nvPr/>
        </p:nvSpPr>
        <p:spPr>
          <a:xfrm>
            <a:off x="6083300" y="1727200"/>
            <a:ext cx="2057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controllers</a:t>
            </a:r>
          </a:p>
        </p:txBody>
      </p:sp>
      <p:sp>
        <p:nvSpPr>
          <p:cNvPr id="1015" name="controller description">
            <a:extLst>
              <a:ext uri="{FF2B5EF4-FFF2-40B4-BE49-F238E27FC236}">
                <a16:creationId xmlns:a16="http://schemas.microsoft.com/office/drawing/2014/main" id="{CE304623-AA80-4D9D-8DAE-4164B7942EAD}"/>
              </a:ext>
            </a:extLst>
          </p:cNvPr>
          <p:cNvSpPr>
            <a:spLocks noGrp="1"/>
          </p:cNvSpPr>
          <p:nvPr/>
        </p:nvSpPr>
        <p:spPr>
          <a:xfrm>
            <a:off x="6083300" y="2095500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Pieprasījuma apstrāde</a:t>
            </a:r>
          </a:p>
        </p:txBody>
      </p:sp>
      <p:sp>
        <p:nvSpPr>
          <p:cNvPr id="1016" name="database-access">
            <a:extLst>
              <a:ext uri="{FF2B5EF4-FFF2-40B4-BE49-F238E27FC236}">
                <a16:creationId xmlns:a16="http://schemas.microsoft.com/office/drawing/2014/main" id="{71273B45-6F28-4260-B333-4BCA4C1F99E9}"/>
              </a:ext>
            </a:extLst>
          </p:cNvPr>
          <p:cNvSpPr>
            <a:spLocks noGrp="1"/>
          </p:cNvSpPr>
          <p:nvPr/>
        </p:nvSpPr>
        <p:spPr>
          <a:xfrm>
            <a:off x="9080500" y="1587500"/>
            <a:ext cx="2413000" cy="1041400"/>
          </a:xfrm>
          <a:prstGeom prst="roundRect">
            <a:avLst>
              <a:gd name="adj" fmla="val 10976"/>
            </a:avLst>
          </a:prstGeom>
          <a:solidFill>
            <a:srgbClr val="111A2E"/>
          </a:solidFill>
          <a:ln w="12700">
            <a:solidFill>
              <a:srgbClr val="EF4444"/>
            </a:solidFill>
          </a:ln>
        </p:spPr>
      </p:sp>
      <p:sp>
        <p:nvSpPr>
          <p:cNvPr id="1017" name="database-access title">
            <a:extLst>
              <a:ext uri="{FF2B5EF4-FFF2-40B4-BE49-F238E27FC236}">
                <a16:creationId xmlns:a16="http://schemas.microsoft.com/office/drawing/2014/main" id="{A9CF3AC2-C7C9-4238-BD18-255660FB3D45}"/>
              </a:ext>
            </a:extLst>
          </p:cNvPr>
          <p:cNvSpPr>
            <a:spLocks noGrp="1"/>
          </p:cNvSpPr>
          <p:nvPr/>
        </p:nvSpPr>
        <p:spPr>
          <a:xfrm>
            <a:off x="9194800" y="1727200"/>
            <a:ext cx="2184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db.php / PDO</a:t>
            </a:r>
          </a:p>
        </p:txBody>
      </p:sp>
      <p:sp>
        <p:nvSpPr>
          <p:cNvPr id="1018" name="database-access description">
            <a:extLst>
              <a:ext uri="{FF2B5EF4-FFF2-40B4-BE49-F238E27FC236}">
                <a16:creationId xmlns:a16="http://schemas.microsoft.com/office/drawing/2014/main" id="{1F72F36E-9D95-4550-9A55-FF54FC2B302F}"/>
              </a:ext>
            </a:extLst>
          </p:cNvPr>
          <p:cNvSpPr>
            <a:spLocks noGrp="1"/>
          </p:cNvSpPr>
          <p:nvPr/>
        </p:nvSpPr>
        <p:spPr>
          <a:xfrm>
            <a:off x="9194800" y="2095500"/>
            <a:ext cx="2184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Datubāzes piekļuve</a:t>
            </a:r>
          </a:p>
        </p:txBody>
      </p:sp>
      <p:sp>
        <p:nvSpPr>
          <p:cNvPr id="1019" name="database">
            <a:extLst>
              <a:ext uri="{FF2B5EF4-FFF2-40B4-BE49-F238E27FC236}">
                <a16:creationId xmlns:a16="http://schemas.microsoft.com/office/drawing/2014/main" id="{31EE3EB5-B803-43C8-BC1D-BCC9A3D0D80D}"/>
              </a:ext>
            </a:extLst>
          </p:cNvPr>
          <p:cNvSpPr>
            <a:spLocks noGrp="1"/>
          </p:cNvSpPr>
          <p:nvPr/>
        </p:nvSpPr>
        <p:spPr>
          <a:xfrm>
            <a:off x="9080500" y="3810000"/>
            <a:ext cx="2413000" cy="1041400"/>
          </a:xfrm>
          <a:prstGeom prst="roundRect">
            <a:avLst>
              <a:gd name="adj" fmla="val 10976"/>
            </a:avLst>
          </a:prstGeom>
          <a:solidFill>
            <a:srgbClr val="111A2E"/>
          </a:solidFill>
          <a:ln w="12700">
            <a:solidFill>
              <a:srgbClr val="21D4FD"/>
            </a:solidFill>
          </a:ln>
        </p:spPr>
      </p:sp>
      <p:sp>
        <p:nvSpPr>
          <p:cNvPr id="1020" name="database title">
            <a:extLst>
              <a:ext uri="{FF2B5EF4-FFF2-40B4-BE49-F238E27FC236}">
                <a16:creationId xmlns:a16="http://schemas.microsoft.com/office/drawing/2014/main" id="{BE0AED5F-9C73-4E6B-AF45-8B96FFEB2036}"/>
              </a:ext>
            </a:extLst>
          </p:cNvPr>
          <p:cNvSpPr>
            <a:spLocks noGrp="1"/>
          </p:cNvSpPr>
          <p:nvPr/>
        </p:nvSpPr>
        <p:spPr>
          <a:xfrm>
            <a:off x="9194800" y="3949700"/>
            <a:ext cx="2184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6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MySQL/MariaDB</a:t>
            </a:r>
          </a:p>
        </p:txBody>
      </p:sp>
      <p:sp>
        <p:nvSpPr>
          <p:cNvPr id="1021" name="database description">
            <a:extLst>
              <a:ext uri="{FF2B5EF4-FFF2-40B4-BE49-F238E27FC236}">
                <a16:creationId xmlns:a16="http://schemas.microsoft.com/office/drawing/2014/main" id="{ED13AB6F-B0F1-4729-97AD-5081AF7FB8E2}"/>
              </a:ext>
            </a:extLst>
          </p:cNvPr>
          <p:cNvSpPr>
            <a:spLocks noGrp="1"/>
          </p:cNvSpPr>
          <p:nvPr/>
        </p:nvSpPr>
        <p:spPr>
          <a:xfrm>
            <a:off x="9194800" y="4318000"/>
            <a:ext cx="2184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Datu glabāšana</a:t>
            </a:r>
          </a:p>
        </p:txBody>
      </p:sp>
      <p:sp>
        <p:nvSpPr>
          <p:cNvPr id="1022" name="views">
            <a:extLst>
              <a:ext uri="{FF2B5EF4-FFF2-40B4-BE49-F238E27FC236}">
                <a16:creationId xmlns:a16="http://schemas.microsoft.com/office/drawing/2014/main" id="{B19C9FE9-5AC3-4155-B364-1B27BFC1D3BB}"/>
              </a:ext>
            </a:extLst>
          </p:cNvPr>
          <p:cNvSpPr>
            <a:spLocks noGrp="1"/>
          </p:cNvSpPr>
          <p:nvPr/>
        </p:nvSpPr>
        <p:spPr>
          <a:xfrm>
            <a:off x="5969000" y="3810000"/>
            <a:ext cx="2286000" cy="1041400"/>
          </a:xfrm>
          <a:prstGeom prst="roundRect">
            <a:avLst>
              <a:gd name="adj" fmla="val 10976"/>
            </a:avLst>
          </a:prstGeom>
          <a:solidFill>
            <a:srgbClr val="111A2E"/>
          </a:solidFill>
          <a:ln w="12700">
            <a:solidFill>
              <a:srgbClr val="F59E0B"/>
            </a:solidFill>
          </a:ln>
        </p:spPr>
      </p:sp>
      <p:sp>
        <p:nvSpPr>
          <p:cNvPr id="1023" name="views title">
            <a:extLst>
              <a:ext uri="{FF2B5EF4-FFF2-40B4-BE49-F238E27FC236}">
                <a16:creationId xmlns:a16="http://schemas.microsoft.com/office/drawing/2014/main" id="{EEEFC124-AB54-4054-ACA1-BE1BEEC969AD}"/>
              </a:ext>
            </a:extLst>
          </p:cNvPr>
          <p:cNvSpPr>
            <a:spLocks noGrp="1"/>
          </p:cNvSpPr>
          <p:nvPr/>
        </p:nvSpPr>
        <p:spPr>
          <a:xfrm>
            <a:off x="6083300" y="3949700"/>
            <a:ext cx="2057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views</a:t>
            </a:r>
          </a:p>
        </p:txBody>
      </p:sp>
      <p:sp>
        <p:nvSpPr>
          <p:cNvPr id="1024" name="views description">
            <a:extLst>
              <a:ext uri="{FF2B5EF4-FFF2-40B4-BE49-F238E27FC236}">
                <a16:creationId xmlns:a16="http://schemas.microsoft.com/office/drawing/2014/main" id="{8E48BDA4-CB77-495C-AC7E-113B07E27B3A}"/>
              </a:ext>
            </a:extLst>
          </p:cNvPr>
          <p:cNvSpPr>
            <a:spLocks noGrp="1"/>
          </p:cNvSpPr>
          <p:nvPr/>
        </p:nvSpPr>
        <p:spPr>
          <a:xfrm>
            <a:off x="6083300" y="4318000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HTML skata sagatavošana</a:t>
            </a:r>
          </a:p>
        </p:txBody>
      </p:sp>
      <p:sp>
        <p:nvSpPr>
          <p:cNvPr id="1025" name="browser-response">
            <a:extLst>
              <a:ext uri="{FF2B5EF4-FFF2-40B4-BE49-F238E27FC236}">
                <a16:creationId xmlns:a16="http://schemas.microsoft.com/office/drawing/2014/main" id="{DEA7BDA1-3413-4BE2-99BF-23673C8D7A58}"/>
              </a:ext>
            </a:extLst>
          </p:cNvPr>
          <p:cNvSpPr>
            <a:spLocks noGrp="1"/>
          </p:cNvSpPr>
          <p:nvPr/>
        </p:nvSpPr>
        <p:spPr>
          <a:xfrm>
            <a:off x="698500" y="3810000"/>
            <a:ext cx="2794000" cy="1041400"/>
          </a:xfrm>
          <a:prstGeom prst="roundRect">
            <a:avLst>
              <a:gd name="adj" fmla="val 10976"/>
            </a:avLst>
          </a:prstGeom>
          <a:solidFill>
            <a:srgbClr val="111A2E"/>
          </a:solidFill>
          <a:ln w="12700">
            <a:solidFill>
              <a:srgbClr val="21D4FD"/>
            </a:solidFill>
          </a:ln>
        </p:spPr>
      </p:sp>
      <p:sp>
        <p:nvSpPr>
          <p:cNvPr id="1026" name="browser-response title">
            <a:extLst>
              <a:ext uri="{FF2B5EF4-FFF2-40B4-BE49-F238E27FC236}">
                <a16:creationId xmlns:a16="http://schemas.microsoft.com/office/drawing/2014/main" id="{C8B78B69-546B-4084-9AA9-5EAAADAB5BB8}"/>
              </a:ext>
            </a:extLst>
          </p:cNvPr>
          <p:cNvSpPr>
            <a:spLocks noGrp="1"/>
          </p:cNvSpPr>
          <p:nvPr/>
        </p:nvSpPr>
        <p:spPr>
          <a:xfrm>
            <a:off x="812800" y="3949700"/>
            <a:ext cx="2565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Pārlūks</a:t>
            </a:r>
          </a:p>
        </p:txBody>
      </p:sp>
      <p:sp>
        <p:nvSpPr>
          <p:cNvPr id="1027" name="browser-response description">
            <a:extLst>
              <a:ext uri="{FF2B5EF4-FFF2-40B4-BE49-F238E27FC236}">
                <a16:creationId xmlns:a16="http://schemas.microsoft.com/office/drawing/2014/main" id="{3D55B616-3F62-458F-8FB1-4DDE26A76A9B}"/>
              </a:ext>
            </a:extLst>
          </p:cNvPr>
          <p:cNvSpPr>
            <a:spLocks noGrp="1"/>
          </p:cNvSpPr>
          <p:nvPr/>
        </p:nvSpPr>
        <p:spPr>
          <a:xfrm>
            <a:off x="812800" y="4318000"/>
            <a:ext cx="2565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HTML atbildes attēlošana</a:t>
            </a:r>
          </a:p>
        </p:txBody>
      </p:sp>
      <p:sp>
        <p:nvSpPr>
          <p:cNvPr id="1031" name="html-label">
            <a:extLst>
              <a:ext uri="{FF2B5EF4-FFF2-40B4-BE49-F238E27FC236}">
                <a16:creationId xmlns:a16="http://schemas.microsoft.com/office/drawing/2014/main" id="{A630053E-3058-4C3B-BE3A-C1B3E82FEF37}"/>
              </a:ext>
            </a:extLst>
          </p:cNvPr>
          <p:cNvSpPr>
            <a:spLocks noGrp="1"/>
          </p:cNvSpPr>
          <p:nvPr/>
        </p:nvSpPr>
        <p:spPr>
          <a:xfrm>
            <a:off x="3683000" y="3937000"/>
            <a:ext cx="2095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HTML atbilde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Datubāzes struktūra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Galvenās tabulas un apstiprinātās relācijas</a:t>
            </a:r>
          </a:p>
        </p:txBody>
      </p:sp>
      <p:sp>
        <p:nvSpPr>
          <p:cNvPr id="298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42669DF-F056-4F7C-BAB8-90412CE95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001" name="">
            <a:extLst>
              <a:ext uri="{FF2B5EF4-FFF2-40B4-BE49-F238E27FC236}">
                <a16:creationId xmlns:a16="http://schemas.microsoft.com/office/drawing/2014/main" id="{F30C5A20-9A76-4690-9569-7F5FEFF9643D}"/>
              </a:ext>
            </a:extLst>
          </p:cNvPr>
          <p:cNvCxnSpPr>
            <a:stCxn id="1021" idx="1"/>
            <a:endCxn id="1018" idx="3"/>
          </p:cNvCxnSpPr>
          <p:nvPr/>
        </p:nvCxnSpPr>
        <p:spPr>
          <a:xfrm flipH="1">
            <a:off x="7366000" y="4102100"/>
            <a:ext cx="1524000" cy="0"/>
          </a:xfrm>
          <a:prstGeom prst="straightConnector1">
            <a:avLst/>
          </a:prstGeom>
          <a:ln w="22860">
            <a:solidFill>
              <a:srgbClr val="21D4FD"/>
            </a:solidFill>
            <a:headEnd type="none" w="sm" len="sm"/>
            <a:tailEnd type="none" w="sm" len="sm"/>
          </a:ln>
        </p:spPr>
      </p:cxnSp>
      <p:cxnSp>
        <p:nvCxnSpPr>
          <p:cNvPr id="1002" name="">
            <a:extLst>
              <a:ext uri="{FF2B5EF4-FFF2-40B4-BE49-F238E27FC236}">
                <a16:creationId xmlns:a16="http://schemas.microsoft.com/office/drawing/2014/main" id="{A7F3AC25-0501-402D-85E0-CCEBF3AAE7E5}"/>
              </a:ext>
            </a:extLst>
          </p:cNvPr>
          <p:cNvCxnSpPr>
            <a:stCxn id="1021" idx="0"/>
            <a:endCxn id="1012" idx="2"/>
          </p:cNvCxnSpPr>
          <p:nvPr/>
        </p:nvCxnSpPr>
        <p:spPr>
          <a:xfrm flipV="1">
            <a:off x="10223500" y="2387600"/>
            <a:ext cx="0" cy="1231900"/>
          </a:xfrm>
          <a:prstGeom prst="straightConnector1">
            <a:avLst/>
          </a:prstGeom>
          <a:ln w="22860">
            <a:solidFill>
              <a:srgbClr val="F59E0B"/>
            </a:solidFill>
            <a:headEnd type="none" w="sm" len="sm"/>
            <a:tailEnd type="none" w="sm" len="sm"/>
          </a:ln>
        </p:spPr>
      </p:cxnSp>
      <p:cxnSp>
        <p:nvCxnSpPr>
          <p:cNvPr id="1003" name="">
            <a:extLst>
              <a:ext uri="{FF2B5EF4-FFF2-40B4-BE49-F238E27FC236}">
                <a16:creationId xmlns:a16="http://schemas.microsoft.com/office/drawing/2014/main" id="{67BE8C1D-FD1B-4E57-870D-6F1DB8826676}"/>
              </a:ext>
            </a:extLst>
          </p:cNvPr>
          <p:cNvCxnSpPr>
            <a:stCxn id="1009" idx="3"/>
            <a:endCxn id="1012" idx="1"/>
          </p:cNvCxnSpPr>
          <p:nvPr/>
        </p:nvCxnSpPr>
        <p:spPr>
          <a:xfrm>
            <a:off x="7366000" y="1905000"/>
            <a:ext cx="1524000" cy="0"/>
          </a:xfrm>
          <a:prstGeom prst="straightConnector1">
            <a:avLst/>
          </a:prstGeom>
          <a:ln w="22860">
            <a:solidFill>
              <a:srgbClr val="EF4444"/>
            </a:solidFill>
            <a:headEnd type="none" w="sm" len="sm"/>
            <a:tailEnd type="none" w="sm" len="sm"/>
          </a:ln>
        </p:spPr>
      </p:cxnSp>
      <p:cxnSp>
        <p:nvCxnSpPr>
          <p:cNvPr id="1004" name="">
            <a:extLst>
              <a:ext uri="{FF2B5EF4-FFF2-40B4-BE49-F238E27FC236}">
                <a16:creationId xmlns:a16="http://schemas.microsoft.com/office/drawing/2014/main" id="{0C5E95E6-6D03-4BFC-828F-4DEF19C864C3}"/>
              </a:ext>
            </a:extLst>
          </p:cNvPr>
          <p:cNvCxnSpPr>
            <a:stCxn id="1015" idx="0"/>
            <a:endCxn id="1009" idx="2"/>
          </p:cNvCxnSpPr>
          <p:nvPr/>
        </p:nvCxnSpPr>
        <p:spPr>
          <a:xfrm flipV="1">
            <a:off x="2000250" y="2387600"/>
            <a:ext cx="3937000" cy="1231900"/>
          </a:xfrm>
          <a:prstGeom prst="straightConnector1">
            <a:avLst/>
          </a:prstGeom>
          <a:ln w="22860">
            <a:solidFill>
              <a:srgbClr val="22C55E"/>
            </a:solidFill>
            <a:headEnd type="none" w="sm" len="sm"/>
            <a:tailEnd type="none" w="sm" len="sm"/>
          </a:ln>
        </p:spPr>
      </p:cxnSp>
      <p:cxnSp>
        <p:nvCxnSpPr>
          <p:cNvPr id="1005" name="">
            <a:extLst>
              <a:ext uri="{FF2B5EF4-FFF2-40B4-BE49-F238E27FC236}">
                <a16:creationId xmlns:a16="http://schemas.microsoft.com/office/drawing/2014/main" id="{A720049C-0DD1-4FA8-AEBA-0F4DE038B532}"/>
              </a:ext>
            </a:extLst>
          </p:cNvPr>
          <p:cNvCxnSpPr>
            <a:stCxn id="1006" idx="3"/>
            <a:endCxn id="1009" idx="1"/>
          </p:cNvCxnSpPr>
          <p:nvPr/>
        </p:nvCxnSpPr>
        <p:spPr>
          <a:xfrm>
            <a:off x="3238500" y="1905000"/>
            <a:ext cx="1270000" cy="0"/>
          </a:xfrm>
          <a:prstGeom prst="straightConnector1">
            <a:avLst/>
          </a:prstGeom>
          <a:ln w="22860">
            <a:solidFill>
              <a:srgbClr val="21D4FD"/>
            </a:solidFill>
            <a:headEnd type="none" w="sm" len="sm"/>
            <a:tailEnd type="none" w="sm" len="sm"/>
          </a:ln>
        </p:spPr>
      </p:cxnSp>
      <p:sp>
        <p:nvSpPr>
          <p:cNvPr id="1006" name="clients">
            <a:extLst>
              <a:ext uri="{FF2B5EF4-FFF2-40B4-BE49-F238E27FC236}">
                <a16:creationId xmlns:a16="http://schemas.microsoft.com/office/drawing/2014/main" id="{B8673562-EF62-4865-82D0-C8C30E221133}"/>
              </a:ext>
            </a:extLst>
          </p:cNvPr>
          <p:cNvSpPr>
            <a:spLocks noGrp="1"/>
          </p:cNvSpPr>
          <p:nvPr/>
        </p:nvSpPr>
        <p:spPr>
          <a:xfrm>
            <a:off x="762000" y="1422400"/>
            <a:ext cx="2476500" cy="965200"/>
          </a:xfrm>
          <a:prstGeom prst="roundRect">
            <a:avLst>
              <a:gd name="adj" fmla="val 11842"/>
            </a:avLst>
          </a:prstGeom>
          <a:solidFill>
            <a:srgbClr val="111A2E"/>
          </a:solidFill>
          <a:ln w="12700">
            <a:solidFill>
              <a:srgbClr val="21D4FD"/>
            </a:solidFill>
          </a:ln>
        </p:spPr>
      </p:sp>
      <p:sp>
        <p:nvSpPr>
          <p:cNvPr id="1007" name="clients title">
            <a:extLst>
              <a:ext uri="{FF2B5EF4-FFF2-40B4-BE49-F238E27FC236}">
                <a16:creationId xmlns:a16="http://schemas.microsoft.com/office/drawing/2014/main" id="{BF210C94-527E-4410-B4E7-22691F9D8C7A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2247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clients</a:t>
            </a:r>
          </a:p>
        </p:txBody>
      </p:sp>
      <p:sp>
        <p:nvSpPr>
          <p:cNvPr id="1008" name="clients description">
            <a:extLst>
              <a:ext uri="{FF2B5EF4-FFF2-40B4-BE49-F238E27FC236}">
                <a16:creationId xmlns:a16="http://schemas.microsoft.com/office/drawing/2014/main" id="{F526A2B9-A0ED-455E-8F24-2A93249A2705}"/>
              </a:ext>
            </a:extLst>
          </p:cNvPr>
          <p:cNvSpPr>
            <a:spLocks noGrp="1"/>
          </p:cNvSpPr>
          <p:nvPr/>
        </p:nvSpPr>
        <p:spPr>
          <a:xfrm>
            <a:off x="876300" y="1930400"/>
            <a:ext cx="2247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id</a:t>
            </a:r>
          </a:p>
        </p:txBody>
      </p:sp>
      <p:sp>
        <p:nvSpPr>
          <p:cNvPr id="1009" name="jobs">
            <a:extLst>
              <a:ext uri="{FF2B5EF4-FFF2-40B4-BE49-F238E27FC236}">
                <a16:creationId xmlns:a16="http://schemas.microsoft.com/office/drawing/2014/main" id="{52BE0496-990D-43B2-9628-B1E0BBE7C25A}"/>
              </a:ext>
            </a:extLst>
          </p:cNvPr>
          <p:cNvSpPr>
            <a:spLocks noGrp="1"/>
          </p:cNvSpPr>
          <p:nvPr/>
        </p:nvSpPr>
        <p:spPr>
          <a:xfrm>
            <a:off x="4508500" y="1422400"/>
            <a:ext cx="2857500" cy="965200"/>
          </a:xfrm>
          <a:prstGeom prst="roundRect">
            <a:avLst>
              <a:gd name="adj" fmla="val 11842"/>
            </a:avLst>
          </a:prstGeom>
          <a:solidFill>
            <a:srgbClr val="111A2E"/>
          </a:solidFill>
          <a:ln w="12700">
            <a:solidFill>
              <a:srgbClr val="7C3AED"/>
            </a:solidFill>
          </a:ln>
        </p:spPr>
      </p:sp>
      <p:sp>
        <p:nvSpPr>
          <p:cNvPr id="1010" name="jobs title">
            <a:extLst>
              <a:ext uri="{FF2B5EF4-FFF2-40B4-BE49-F238E27FC236}">
                <a16:creationId xmlns:a16="http://schemas.microsoft.com/office/drawing/2014/main" id="{49F42F81-1F72-4494-A2D7-CF686854D134}"/>
              </a:ext>
            </a:extLst>
          </p:cNvPr>
          <p:cNvSpPr>
            <a:spLocks noGrp="1"/>
          </p:cNvSpPr>
          <p:nvPr/>
        </p:nvSpPr>
        <p:spPr>
          <a:xfrm>
            <a:off x="4622800" y="1562100"/>
            <a:ext cx="2628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jobs</a:t>
            </a:r>
          </a:p>
        </p:txBody>
      </p:sp>
      <p:sp>
        <p:nvSpPr>
          <p:cNvPr id="1011" name="jobs description">
            <a:extLst>
              <a:ext uri="{FF2B5EF4-FFF2-40B4-BE49-F238E27FC236}">
                <a16:creationId xmlns:a16="http://schemas.microsoft.com/office/drawing/2014/main" id="{0811EABA-1DC6-441F-8BFF-168B812D3B6E}"/>
              </a:ext>
            </a:extLst>
          </p:cNvPr>
          <p:cNvSpPr>
            <a:spLocks noGrp="1"/>
          </p:cNvSpPr>
          <p:nvPr/>
        </p:nvSpPr>
        <p:spPr>
          <a:xfrm>
            <a:off x="4622800" y="19304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id · client_id · master_id</a:t>
            </a:r>
          </a:p>
        </p:txBody>
      </p:sp>
      <p:sp>
        <p:nvSpPr>
          <p:cNvPr id="1012" name="invoices">
            <a:extLst>
              <a:ext uri="{FF2B5EF4-FFF2-40B4-BE49-F238E27FC236}">
                <a16:creationId xmlns:a16="http://schemas.microsoft.com/office/drawing/2014/main" id="{73B6CA94-BE5D-4D12-A675-682F94513024}"/>
              </a:ext>
            </a:extLst>
          </p:cNvPr>
          <p:cNvSpPr>
            <a:spLocks noGrp="1"/>
          </p:cNvSpPr>
          <p:nvPr/>
        </p:nvSpPr>
        <p:spPr>
          <a:xfrm>
            <a:off x="8890000" y="1422400"/>
            <a:ext cx="2667000" cy="965200"/>
          </a:xfrm>
          <a:prstGeom prst="roundRect">
            <a:avLst>
              <a:gd name="adj" fmla="val 11842"/>
            </a:avLst>
          </a:prstGeom>
          <a:solidFill>
            <a:srgbClr val="111A2E"/>
          </a:solidFill>
          <a:ln w="12700">
            <a:solidFill>
              <a:srgbClr val="EF4444"/>
            </a:solidFill>
          </a:ln>
        </p:spPr>
      </p:sp>
      <p:sp>
        <p:nvSpPr>
          <p:cNvPr id="1013" name="invoices title">
            <a:extLst>
              <a:ext uri="{FF2B5EF4-FFF2-40B4-BE49-F238E27FC236}">
                <a16:creationId xmlns:a16="http://schemas.microsoft.com/office/drawing/2014/main" id="{29F95FB7-4901-46C6-A9F9-0CEBC296BF5F}"/>
              </a:ext>
            </a:extLst>
          </p:cNvPr>
          <p:cNvSpPr>
            <a:spLocks noGrp="1"/>
          </p:cNvSpPr>
          <p:nvPr/>
        </p:nvSpPr>
        <p:spPr>
          <a:xfrm>
            <a:off x="9004300" y="1562100"/>
            <a:ext cx="2438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invoices</a:t>
            </a:r>
          </a:p>
        </p:txBody>
      </p:sp>
      <p:sp>
        <p:nvSpPr>
          <p:cNvPr id="1014" name="invoices description">
            <a:extLst>
              <a:ext uri="{FF2B5EF4-FFF2-40B4-BE49-F238E27FC236}">
                <a16:creationId xmlns:a16="http://schemas.microsoft.com/office/drawing/2014/main" id="{AAF47A73-43F6-44EA-A200-17A69F59C32F}"/>
              </a:ext>
            </a:extLst>
          </p:cNvPr>
          <p:cNvSpPr>
            <a:spLocks noGrp="1"/>
          </p:cNvSpPr>
          <p:nvPr/>
        </p:nvSpPr>
        <p:spPr>
          <a:xfrm>
            <a:off x="9004300" y="1930400"/>
            <a:ext cx="2438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job_id · invoice_profile_id</a:t>
            </a:r>
          </a:p>
        </p:txBody>
      </p:sp>
      <p:sp>
        <p:nvSpPr>
          <p:cNvPr id="1015" name="masters">
            <a:extLst>
              <a:ext uri="{FF2B5EF4-FFF2-40B4-BE49-F238E27FC236}">
                <a16:creationId xmlns:a16="http://schemas.microsoft.com/office/drawing/2014/main" id="{1FFC1F24-572A-43AA-BB3B-4B4C39FD39A7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2476500" cy="965200"/>
          </a:xfrm>
          <a:prstGeom prst="roundRect">
            <a:avLst>
              <a:gd name="adj" fmla="val 11842"/>
            </a:avLst>
          </a:prstGeom>
          <a:solidFill>
            <a:srgbClr val="111A2E"/>
          </a:solidFill>
          <a:ln w="12700">
            <a:solidFill>
              <a:srgbClr val="22C55E"/>
            </a:solidFill>
          </a:ln>
        </p:spPr>
      </p:sp>
      <p:sp>
        <p:nvSpPr>
          <p:cNvPr id="1016" name="masters title">
            <a:extLst>
              <a:ext uri="{FF2B5EF4-FFF2-40B4-BE49-F238E27FC236}">
                <a16:creationId xmlns:a16="http://schemas.microsoft.com/office/drawing/2014/main" id="{BB3FF685-9BD9-481E-A143-149DF1D50E9F}"/>
              </a:ext>
            </a:extLst>
          </p:cNvPr>
          <p:cNvSpPr>
            <a:spLocks noGrp="1"/>
          </p:cNvSpPr>
          <p:nvPr/>
        </p:nvSpPr>
        <p:spPr>
          <a:xfrm>
            <a:off x="876300" y="3759200"/>
            <a:ext cx="2247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masters</a:t>
            </a:r>
          </a:p>
        </p:txBody>
      </p:sp>
      <p:sp>
        <p:nvSpPr>
          <p:cNvPr id="1017" name="masters description">
            <a:extLst>
              <a:ext uri="{FF2B5EF4-FFF2-40B4-BE49-F238E27FC236}">
                <a16:creationId xmlns:a16="http://schemas.microsoft.com/office/drawing/2014/main" id="{667C4CBF-6BFC-4276-BC67-BF0FE7DE41A1}"/>
              </a:ext>
            </a:extLst>
          </p:cNvPr>
          <p:cNvSpPr>
            <a:spLocks noGrp="1"/>
          </p:cNvSpPr>
          <p:nvPr/>
        </p:nvSpPr>
        <p:spPr>
          <a:xfrm>
            <a:off x="876300" y="4127500"/>
            <a:ext cx="2247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id</a:t>
            </a:r>
          </a:p>
        </p:txBody>
      </p:sp>
      <p:sp>
        <p:nvSpPr>
          <p:cNvPr id="1018" name="invoice_templates">
            <a:extLst>
              <a:ext uri="{FF2B5EF4-FFF2-40B4-BE49-F238E27FC236}">
                <a16:creationId xmlns:a16="http://schemas.microsoft.com/office/drawing/2014/main" id="{7C764F99-E5A4-4851-83A0-7A7B18413BE3}"/>
              </a:ext>
            </a:extLst>
          </p:cNvPr>
          <p:cNvSpPr>
            <a:spLocks noGrp="1"/>
          </p:cNvSpPr>
          <p:nvPr/>
        </p:nvSpPr>
        <p:spPr>
          <a:xfrm>
            <a:off x="4508500" y="3619500"/>
            <a:ext cx="2857500" cy="965200"/>
          </a:xfrm>
          <a:prstGeom prst="roundRect">
            <a:avLst>
              <a:gd name="adj" fmla="val 11842"/>
            </a:avLst>
          </a:prstGeom>
          <a:solidFill>
            <a:srgbClr val="111A2E"/>
          </a:solidFill>
          <a:ln w="12700">
            <a:solidFill>
              <a:srgbClr val="21D4FD"/>
            </a:solidFill>
          </a:ln>
        </p:spPr>
      </p:sp>
      <p:sp>
        <p:nvSpPr>
          <p:cNvPr id="1019" name="invoice_templates title">
            <a:extLst>
              <a:ext uri="{FF2B5EF4-FFF2-40B4-BE49-F238E27FC236}">
                <a16:creationId xmlns:a16="http://schemas.microsoft.com/office/drawing/2014/main" id="{FAFA71E0-7493-4DE1-AD7A-1CD5241B22E7}"/>
              </a:ext>
            </a:extLst>
          </p:cNvPr>
          <p:cNvSpPr>
            <a:spLocks noGrp="1"/>
          </p:cNvSpPr>
          <p:nvPr/>
        </p:nvSpPr>
        <p:spPr>
          <a:xfrm>
            <a:off x="4622800" y="3759200"/>
            <a:ext cx="2628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invoice_templates</a:t>
            </a:r>
          </a:p>
        </p:txBody>
      </p:sp>
      <p:sp>
        <p:nvSpPr>
          <p:cNvPr id="1020" name="invoice_templates description">
            <a:extLst>
              <a:ext uri="{FF2B5EF4-FFF2-40B4-BE49-F238E27FC236}">
                <a16:creationId xmlns:a16="http://schemas.microsoft.com/office/drawing/2014/main" id="{0B62060B-6684-4385-9D91-C7E1B22B2BEE}"/>
              </a:ext>
            </a:extLst>
          </p:cNvPr>
          <p:cNvSpPr>
            <a:spLocks noGrp="1"/>
          </p:cNvSpPr>
          <p:nvPr/>
        </p:nvSpPr>
        <p:spPr>
          <a:xfrm>
            <a:off x="4622800" y="4127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invoice_profile_id</a:t>
            </a:r>
          </a:p>
        </p:txBody>
      </p:sp>
      <p:sp>
        <p:nvSpPr>
          <p:cNvPr id="1021" name="invoice_profiles">
            <a:extLst>
              <a:ext uri="{FF2B5EF4-FFF2-40B4-BE49-F238E27FC236}">
                <a16:creationId xmlns:a16="http://schemas.microsoft.com/office/drawing/2014/main" id="{E4BEEB51-2573-4C1D-8A22-516868A30994}"/>
              </a:ext>
            </a:extLst>
          </p:cNvPr>
          <p:cNvSpPr>
            <a:spLocks noGrp="1"/>
          </p:cNvSpPr>
          <p:nvPr/>
        </p:nvSpPr>
        <p:spPr>
          <a:xfrm>
            <a:off x="8890000" y="3619500"/>
            <a:ext cx="2667000" cy="965200"/>
          </a:xfrm>
          <a:prstGeom prst="roundRect">
            <a:avLst>
              <a:gd name="adj" fmla="val 11842"/>
            </a:avLst>
          </a:prstGeom>
          <a:solidFill>
            <a:srgbClr val="111A2E"/>
          </a:solidFill>
          <a:ln w="12700">
            <a:solidFill>
              <a:srgbClr val="F59E0B"/>
            </a:solidFill>
          </a:ln>
        </p:spPr>
      </p:sp>
      <p:sp>
        <p:nvSpPr>
          <p:cNvPr id="1022" name="invoice_profiles title">
            <a:extLst>
              <a:ext uri="{FF2B5EF4-FFF2-40B4-BE49-F238E27FC236}">
                <a16:creationId xmlns:a16="http://schemas.microsoft.com/office/drawing/2014/main" id="{4B2B2772-30D9-413A-A39C-992EA806C7F2}"/>
              </a:ext>
            </a:extLst>
          </p:cNvPr>
          <p:cNvSpPr>
            <a:spLocks noGrp="1"/>
          </p:cNvSpPr>
          <p:nvPr/>
        </p:nvSpPr>
        <p:spPr>
          <a:xfrm>
            <a:off x="9004300" y="3759200"/>
            <a:ext cx="2438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invoice_profiles</a:t>
            </a:r>
          </a:p>
        </p:txBody>
      </p:sp>
      <p:sp>
        <p:nvSpPr>
          <p:cNvPr id="1023" name="invoice_profiles description">
            <a:extLst>
              <a:ext uri="{FF2B5EF4-FFF2-40B4-BE49-F238E27FC236}">
                <a16:creationId xmlns:a16="http://schemas.microsoft.com/office/drawing/2014/main" id="{3BC6060D-F984-4B8C-86FF-F7CBE0F56482}"/>
              </a:ext>
            </a:extLst>
          </p:cNvPr>
          <p:cNvSpPr>
            <a:spLocks noGrp="1"/>
          </p:cNvSpPr>
          <p:nvPr/>
        </p:nvSpPr>
        <p:spPr>
          <a:xfrm>
            <a:off x="9004300" y="4127500"/>
            <a:ext cx="2438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id</a:t>
            </a:r>
          </a:p>
        </p:txBody>
      </p:sp>
      <p:sp>
        <p:nvSpPr>
          <p:cNvPr id="1024" name="clients-end-count">
            <a:extLst>
              <a:ext uri="{FF2B5EF4-FFF2-40B4-BE49-F238E27FC236}">
                <a16:creationId xmlns:a16="http://schemas.microsoft.com/office/drawing/2014/main" id="{72232A9B-5187-4EF5-B0D2-DC8D00D5B091}"/>
              </a:ext>
            </a:extLst>
          </p:cNvPr>
          <p:cNvSpPr>
            <a:spLocks noGrp="1"/>
          </p:cNvSpPr>
          <p:nvPr/>
        </p:nvSpPr>
        <p:spPr>
          <a:xfrm>
            <a:off x="3340100" y="1574800"/>
            <a:ext cx="3175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D4F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25" name="jobs-client-end-count">
            <a:extLst>
              <a:ext uri="{FF2B5EF4-FFF2-40B4-BE49-F238E27FC236}">
                <a16:creationId xmlns:a16="http://schemas.microsoft.com/office/drawing/2014/main" id="{78319B76-B45A-42D9-BF5F-799D8457B2EB}"/>
              </a:ext>
            </a:extLst>
          </p:cNvPr>
          <p:cNvSpPr>
            <a:spLocks noGrp="1"/>
          </p:cNvSpPr>
          <p:nvPr/>
        </p:nvSpPr>
        <p:spPr>
          <a:xfrm>
            <a:off x="3886200" y="1574800"/>
            <a:ext cx="5334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D4FD"/>
                </a:solidFill>
                <a:latin typeface="Calibri"/>
                <a:ea typeface="Calibri"/>
                <a:cs typeface="Calibri"/>
              </a:rPr>
              <a:t>0..N</a:t>
            </a:r>
          </a:p>
        </p:txBody>
      </p:sp>
      <p:sp>
        <p:nvSpPr>
          <p:cNvPr id="1026" name="masters-end-count">
            <a:extLst>
              <a:ext uri="{FF2B5EF4-FFF2-40B4-BE49-F238E27FC236}">
                <a16:creationId xmlns:a16="http://schemas.microsoft.com/office/drawing/2014/main" id="{1DFB9A96-84B8-460B-A444-439220E01C1B}"/>
              </a:ext>
            </a:extLst>
          </p:cNvPr>
          <p:cNvSpPr>
            <a:spLocks noGrp="1"/>
          </p:cNvSpPr>
          <p:nvPr/>
        </p:nvSpPr>
        <p:spPr>
          <a:xfrm>
            <a:off x="2032000" y="3213100"/>
            <a:ext cx="635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22C55E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22C55E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0..1</a:t>
            </a:r>
          </a:p>
        </p:txBody>
      </p:sp>
      <p:sp>
        <p:nvSpPr>
          <p:cNvPr id="1027" name="jobs-master-end-count">
            <a:extLst>
              <a:ext uri="{FF2B5EF4-FFF2-40B4-BE49-F238E27FC236}">
                <a16:creationId xmlns:a16="http://schemas.microsoft.com/office/drawing/2014/main" id="{880C2C89-0B2F-46E6-AC87-D166D4A26F41}"/>
              </a:ext>
            </a:extLst>
          </p:cNvPr>
          <p:cNvSpPr>
            <a:spLocks noGrp="1"/>
          </p:cNvSpPr>
          <p:nvPr/>
        </p:nvSpPr>
        <p:spPr>
          <a:xfrm>
            <a:off x="5473700" y="2476500"/>
            <a:ext cx="6350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22C55E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22C55E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0..N</a:t>
            </a:r>
          </a:p>
        </p:txBody>
      </p:sp>
      <p:sp>
        <p:nvSpPr>
          <p:cNvPr id="1028" name="jobs-invoice-end-count">
            <a:extLst>
              <a:ext uri="{FF2B5EF4-FFF2-40B4-BE49-F238E27FC236}">
                <a16:creationId xmlns:a16="http://schemas.microsoft.com/office/drawing/2014/main" id="{1B6DB7E3-9E0F-4004-BC01-114B389C41CC}"/>
              </a:ext>
            </a:extLst>
          </p:cNvPr>
          <p:cNvSpPr>
            <a:spLocks noGrp="1"/>
          </p:cNvSpPr>
          <p:nvPr/>
        </p:nvSpPr>
        <p:spPr>
          <a:xfrm>
            <a:off x="7442200" y="1574800"/>
            <a:ext cx="6096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EF444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EF4444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0..1</a:t>
            </a:r>
          </a:p>
        </p:txBody>
      </p:sp>
      <p:sp>
        <p:nvSpPr>
          <p:cNvPr id="1029" name="invoice-job-end-count">
            <a:extLst>
              <a:ext uri="{FF2B5EF4-FFF2-40B4-BE49-F238E27FC236}">
                <a16:creationId xmlns:a16="http://schemas.microsoft.com/office/drawing/2014/main" id="{BB4671C6-F751-45A9-B8FF-A9119A295D11}"/>
              </a:ext>
            </a:extLst>
          </p:cNvPr>
          <p:cNvSpPr>
            <a:spLocks noGrp="1"/>
          </p:cNvSpPr>
          <p:nvPr/>
        </p:nvSpPr>
        <p:spPr>
          <a:xfrm>
            <a:off x="8204200" y="1574800"/>
            <a:ext cx="6096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EF444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EF4444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0..1</a:t>
            </a:r>
          </a:p>
        </p:txBody>
      </p:sp>
      <p:sp>
        <p:nvSpPr>
          <p:cNvPr id="1030" name="invoices-profile-end-count">
            <a:extLst>
              <a:ext uri="{FF2B5EF4-FFF2-40B4-BE49-F238E27FC236}">
                <a16:creationId xmlns:a16="http://schemas.microsoft.com/office/drawing/2014/main" id="{98AF504F-0172-46BA-81F9-2A6FC5903881}"/>
              </a:ext>
            </a:extLst>
          </p:cNvPr>
          <p:cNvSpPr>
            <a:spLocks noGrp="1"/>
          </p:cNvSpPr>
          <p:nvPr/>
        </p:nvSpPr>
        <p:spPr>
          <a:xfrm>
            <a:off x="10337800" y="2438400"/>
            <a:ext cx="6985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0..N</a:t>
            </a:r>
          </a:p>
        </p:txBody>
      </p:sp>
      <p:sp>
        <p:nvSpPr>
          <p:cNvPr id="1031" name="profiles-invoice-end-count">
            <a:extLst>
              <a:ext uri="{FF2B5EF4-FFF2-40B4-BE49-F238E27FC236}" cx="609600">
                <a16:creationId xmlns:a16="http://schemas.microsoft.com/office/drawing/2014/main" id="{34482B3F-D79B-438D-82CC-74A1720DE6AC}"/>
              </a:ext>
            </a:extLst>
          </p:cNvPr>
          <p:cNvSpPr>
            <a:spLocks noGrp="1"/>
          </p:cNvSpPr>
          <p:nvPr/>
        </p:nvSpPr>
        <p:spPr>
          <a:xfrm>
            <a:off x="10337800" y="3263900"/>
            <a:ext cx="3556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0..1</a:t>
            </a:r>
          </a:p>
        </p:txBody>
      </p:sp>
      <p:sp>
        <p:nvSpPr>
          <p:cNvPr id="1032" name="templates-profile-end-count">
            <a:extLst>
              <a:ext uri="{FF2B5EF4-FFF2-40B4-BE49-F238E27FC236}">
                <a16:creationId xmlns:a16="http://schemas.microsoft.com/office/drawing/2014/main" id="{9A88E280-B916-4169-B8B5-527ECABC9B5E}"/>
              </a:ext>
            </a:extLst>
          </p:cNvPr>
          <p:cNvSpPr>
            <a:spLocks noGrp="1"/>
          </p:cNvSpPr>
          <p:nvPr/>
        </p:nvSpPr>
        <p:spPr>
          <a:xfrm>
            <a:off x="7442200" y="3771900"/>
            <a:ext cx="6096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D4FD"/>
                </a:solidFill>
                <a:latin typeface="Calibri"/>
                <a:ea typeface="Calibri"/>
                <a:cs typeface="Calibri"/>
              </a:rPr>
              <a:t>0..N</a:t>
            </a:r>
          </a:p>
        </p:txBody>
      </p:sp>
      <p:sp>
        <p:nvSpPr>
          <p:cNvPr id="1033" name="profiles-template-end-count">
            <a:extLst>
              <a:ext uri="{FF2B5EF4-FFF2-40B4-BE49-F238E27FC236}" cx="609600">
                <a16:creationId xmlns:a16="http://schemas.microsoft.com/office/drawing/2014/main" id="{37C12B35-362C-4993-9CB2-7E0FB0EE9D89}"/>
              </a:ext>
            </a:extLst>
          </p:cNvPr>
          <p:cNvSpPr>
            <a:spLocks noGrp="1"/>
          </p:cNvSpPr>
          <p:nvPr/>
        </p:nvSpPr>
        <p:spPr>
          <a:xfrm>
            <a:off x="8204200" y="3771900"/>
            <a:ext cx="3556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21D4F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D4FD"/>
                </a:solidFill>
                <a:latin typeface="Calibri"/>
                <a:ea typeface="Calibri"/>
                <a:cs typeface="Calibri"/>
              </a:rPr>
              <a:t>0..1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Galvenā funkcionalitāte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Ko sistēmā var izdarīt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777240" y="1280160"/>
            <a:ext cx="4571640" cy="43887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1078920" y="1591200"/>
            <a:ext cx="3937000" cy="3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Darbu un pārskatu funkcijas</a:t>
            </a:r>
          </a:p>
        </p:txBody>
      </p:sp>
      <p:sp>
        <p:nvSpPr>
          <p:cNvPr id="338" name="Shape 20"/>
          <p:cNvSpPr/>
          <p:nvPr/>
        </p:nvSpPr>
        <p:spPr>
          <a:xfrm>
            <a:off x="1115640" y="22606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1"/>
          <p:cNvSpPr/>
          <p:nvPr/>
        </p:nvSpPr>
        <p:spPr>
          <a:xfrm>
            <a:off x="1316880" y="2082800"/>
            <a:ext cx="36115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Darbu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izveide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un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rediģēšana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2"/>
          <p:cNvSpPr/>
          <p:nvPr/>
        </p:nvSpPr>
        <p:spPr>
          <a:xfrm>
            <a:off x="1115640" y="28575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3"/>
          <p:cNvSpPr/>
          <p:nvPr/>
        </p:nvSpPr>
        <p:spPr>
          <a:xfrm>
            <a:off x="1316880" y="2679700"/>
            <a:ext cx="36115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Darbu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filtrēšana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4"/>
          <p:cNvSpPr/>
          <p:nvPr/>
        </p:nvSpPr>
        <p:spPr>
          <a:xfrm>
            <a:off x="1115640" y="34544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5"/>
          <p:cNvSpPr/>
          <p:nvPr/>
        </p:nvSpPr>
        <p:spPr>
          <a:xfrm>
            <a:off x="1316880" y="3276600"/>
            <a:ext cx="36115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Darbu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statusu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maiņa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6"/>
          <p:cNvSpPr/>
          <p:nvPr/>
        </p:nvSpPr>
        <p:spPr>
          <a:xfrm>
            <a:off x="1115640" y="40513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7"/>
          <p:cNvSpPr/>
          <p:nvPr/>
        </p:nvSpPr>
        <p:spPr>
          <a:xfrm>
            <a:off x="1316880" y="3873500"/>
            <a:ext cx="36115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lv-LV" sz="1700" dirty="0">
                <a:solidFill>
                  <a:srgbClr val="F8FAFC"/>
                </a:solidFill>
                <a:latin typeface="Calibri"/>
                <a:ea typeface="Calibri"/>
              </a:rPr>
              <a:t>Informācijas panelis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8"/>
          <p:cNvSpPr/>
          <p:nvPr/>
        </p:nvSpPr>
        <p:spPr>
          <a:xfrm>
            <a:off x="1115640" y="46482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9"/>
          <p:cNvSpPr/>
          <p:nvPr/>
        </p:nvSpPr>
        <p:spPr>
          <a:xfrm>
            <a:off x="1316880" y="4470400"/>
            <a:ext cx="36115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Meistara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publiskā</a:t>
            </a:r>
            <a:r>
              <a:rPr lang="en-US" sz="17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darbu </a:t>
            </a:r>
            <a:r>
              <a:rPr lang="en-US" sz="17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lapa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0"/>
          <p:cNvSpPr/>
          <p:nvPr/>
        </p:nvSpPr>
        <p:spPr>
          <a:xfrm>
            <a:off x="5989320" y="1280160"/>
            <a:ext cx="5166000" cy="438876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1"/>
          <p:cNvSpPr/>
          <p:nvPr/>
        </p:nvSpPr>
        <p:spPr>
          <a:xfrm>
            <a:off x="6309360" y="1572840"/>
            <a:ext cx="292572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CRM moduļu pārskats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2"/>
          <p:cNvSpPr/>
          <p:nvPr/>
        </p:nvSpPr>
        <p:spPr>
          <a:xfrm>
            <a:off x="6309360" y="2057400"/>
            <a:ext cx="1965600" cy="106680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3"/>
          <p:cNvSpPr/>
          <p:nvPr/>
        </p:nvSpPr>
        <p:spPr>
          <a:xfrm>
            <a:off x="6309360" y="2057400"/>
            <a:ext cx="72720" cy="106680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4"/>
          <p:cNvSpPr/>
          <p:nvPr/>
        </p:nvSpPr>
        <p:spPr>
          <a:xfrm>
            <a:off x="6528960" y="2197100"/>
            <a:ext cx="16510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Klienti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5"/>
          <p:cNvSpPr/>
          <p:nvPr/>
        </p:nvSpPr>
        <p:spPr>
          <a:xfrm>
            <a:off x="6528960" y="2527300"/>
            <a:ext cx="1676400" cy="54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datu pievienošana un rediģēšana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6"/>
          <p:cNvSpPr/>
          <p:nvPr/>
        </p:nvSpPr>
        <p:spPr>
          <a:xfrm>
            <a:off x="8641080" y="2057400"/>
            <a:ext cx="1965600" cy="106680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7"/>
          <p:cNvSpPr/>
          <p:nvPr/>
        </p:nvSpPr>
        <p:spPr>
          <a:xfrm>
            <a:off x="8641080" y="2057400"/>
            <a:ext cx="72720" cy="1066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8"/>
          <p:cNvSpPr/>
          <p:nvPr/>
        </p:nvSpPr>
        <p:spPr>
          <a:xfrm>
            <a:off x="8860680" y="2197100"/>
            <a:ext cx="16510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Meistari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39"/>
          <p:cNvSpPr/>
          <p:nvPr/>
        </p:nvSpPr>
        <p:spPr>
          <a:xfrm>
            <a:off x="8860680" y="2527300"/>
            <a:ext cx="1676400" cy="54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pārvaldība un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piesaistīšana darbiem</a:t>
            </a:r>
          </a:p>
        </p:txBody>
      </p:sp>
      <p:sp>
        <p:nvSpPr>
          <p:cNvPr id="358" name="Shape 40"/>
          <p:cNvSpPr/>
          <p:nvPr/>
        </p:nvSpPr>
        <p:spPr>
          <a:xfrm>
            <a:off x="6309360" y="3383280"/>
            <a:ext cx="1965600" cy="106680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41"/>
          <p:cNvSpPr/>
          <p:nvPr/>
        </p:nvSpPr>
        <p:spPr>
          <a:xfrm>
            <a:off x="6309360" y="3383280"/>
            <a:ext cx="72720" cy="1066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2"/>
          <p:cNvSpPr/>
          <p:nvPr/>
        </p:nvSpPr>
        <p:spPr>
          <a:xfrm>
            <a:off x="6528960" y="3522980"/>
            <a:ext cx="16510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Darbi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3"/>
          <p:cNvSpPr/>
          <p:nvPr/>
        </p:nvSpPr>
        <p:spPr>
          <a:xfrm>
            <a:off x="6528960" y="3853180"/>
            <a:ext cx="1676400" cy="54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statusi, filtri un pārskats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44"/>
          <p:cNvSpPr/>
          <p:nvPr/>
        </p:nvSpPr>
        <p:spPr>
          <a:xfrm>
            <a:off x="8641080" y="3383280"/>
            <a:ext cx="1965600" cy="106680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45"/>
          <p:cNvSpPr/>
          <p:nvPr/>
        </p:nvSpPr>
        <p:spPr>
          <a:xfrm>
            <a:off x="8641080" y="3383280"/>
            <a:ext cx="72720" cy="1066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6"/>
          <p:cNvSpPr/>
          <p:nvPr/>
        </p:nvSpPr>
        <p:spPr>
          <a:xfrm>
            <a:off x="8860680" y="3522980"/>
            <a:ext cx="16510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Rēķini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7"/>
          <p:cNvSpPr/>
          <p:nvPr/>
        </p:nvSpPr>
        <p:spPr>
          <a:xfrm>
            <a:off x="8860680" y="3853180"/>
            <a:ext cx="1676400" cy="54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PDF ģenerēšana un apmaksas statuss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48"/>
          <p:cNvSpPr/>
          <p:nvPr/>
        </p:nvSpPr>
        <p:spPr>
          <a:xfrm>
            <a:off x="6537960" y="4709160"/>
            <a:ext cx="4160160" cy="502560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 w="12700">
            <a:solidFill>
              <a:srgbClr val="263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9"/>
          <p:cNvSpPr/>
          <p:nvPr/>
        </p:nvSpPr>
        <p:spPr>
          <a:xfrm>
            <a:off x="6654800" y="4749800"/>
            <a:ext cx="3937000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lv-LV" sz="1250" dirty="0">
                <a:solidFill>
                  <a:srgbClr val="CBD5E1"/>
                </a:solidFill>
                <a:latin typeface="Calibri"/>
                <a:ea typeface="Calibri"/>
              </a:rPr>
              <a:t>Informācijas panelis apvieno galveno informāciju vienā skatā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DD4AB7A-BA51-473F-BCC4-F17E8C518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Rēķinu </a:t>
            </a:r>
            <a:r>
              <a:rPr lang="en-US" sz="25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funkcionalitāte</a:t>
            </a:r>
            <a:endParaRPr lang="en-US" sz="2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 err="1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Divi izveides veidi un kopīga rēķinu pārvaldība</a:t>
            </a:r>
          </a:p>
        </p:txBody>
      </p:sp>
      <p:sp>
        <p:nvSpPr>
          <p:cNvPr id="381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BF7D721-CDD6-48F7-A487-0E1DB2489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001" name="">
            <a:extLst>
              <a:ext uri="{FF2B5EF4-FFF2-40B4-BE49-F238E27FC236}">
                <a16:creationId xmlns:a16="http://schemas.microsoft.com/office/drawing/2014/main" id="{3E46E28F-0B66-4B86-B355-BE1B02F117AB}"/>
              </a:ext>
            </a:extLst>
          </p:cNvPr>
          <p:cNvCxnSpPr>
            <a:stCxn id="1018" idx="1"/>
            <a:endCxn id="1021" idx="3"/>
          </p:cNvCxnSpPr>
          <p:nvPr/>
        </p:nvCxnSpPr>
        <p:spPr>
          <a:xfrm flipH="1">
            <a:off x="7556500" y="4089400"/>
            <a:ext cx="1206500" cy="1079500"/>
          </a:xfrm>
          <a:prstGeom prst="bentConnector3">
            <a:avLst>
              <a:gd name="adj1" fmla="val 50000"/>
            </a:avLst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cxnSp>
        <p:nvCxnSpPr>
          <p:cNvPr id="1002" name="">
            <a:extLst>
              <a:ext uri="{FF2B5EF4-FFF2-40B4-BE49-F238E27FC236}">
                <a16:creationId xmlns:a16="http://schemas.microsoft.com/office/drawing/2014/main" id="{4AB20F03-8435-4373-8B49-85D01A8ACBF6}"/>
              </a:ext>
            </a:extLst>
          </p:cNvPr>
          <p:cNvCxnSpPr>
            <a:stCxn id="1015" idx="2"/>
            <a:endCxn id="1018" idx="0"/>
          </p:cNvCxnSpPr>
          <p:nvPr/>
        </p:nvCxnSpPr>
        <p:spPr>
          <a:xfrm>
            <a:off x="10128250" y="2667000"/>
            <a:ext cx="0" cy="914400"/>
          </a:xfrm>
          <a:prstGeom prst="straightConnector1">
            <a:avLst/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cxnSp>
        <p:nvCxnSpPr>
          <p:cNvPr id="1003" name="">
            <a:extLst>
              <a:ext uri="{FF2B5EF4-FFF2-40B4-BE49-F238E27FC236}">
                <a16:creationId xmlns:a16="http://schemas.microsoft.com/office/drawing/2014/main" id="{2411A754-0D6B-4917-A966-35E5C6C6B1E5}"/>
              </a:ext>
            </a:extLst>
          </p:cNvPr>
          <p:cNvCxnSpPr>
            <a:stCxn id="1012" idx="3"/>
            <a:endCxn id="1015" idx="1"/>
          </p:cNvCxnSpPr>
          <p:nvPr/>
        </p:nvCxnSpPr>
        <p:spPr>
          <a:xfrm flipV="1">
            <a:off x="7556500" y="2159000"/>
            <a:ext cx="1206500" cy="1022350"/>
          </a:xfrm>
          <a:prstGeom prst="bentConnector3">
            <a:avLst>
              <a:gd name="adj1" fmla="val 50000"/>
            </a:avLst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cxnSp>
        <p:nvCxnSpPr>
          <p:cNvPr id="1004" name="">
            <a:extLst>
              <a:ext uri="{FF2B5EF4-FFF2-40B4-BE49-F238E27FC236}">
                <a16:creationId xmlns:a16="http://schemas.microsoft.com/office/drawing/2014/main" id="{C11A235A-595B-4D42-BD18-3894141D3CA4}"/>
              </a:ext>
            </a:extLst>
          </p:cNvPr>
          <p:cNvCxnSpPr>
            <a:stCxn id="1009" idx="3"/>
            <a:endCxn id="1012" idx="1"/>
          </p:cNvCxnSpPr>
          <p:nvPr/>
        </p:nvCxnSpPr>
        <p:spPr>
          <a:xfrm flipV="1">
            <a:off x="3746500" y="3181350"/>
            <a:ext cx="889000" cy="939800"/>
          </a:xfrm>
          <a:prstGeom prst="bentConnector3">
            <a:avLst>
              <a:gd name="adj1" fmla="val 50000"/>
            </a:avLst>
          </a:prstGeom>
          <a:ln w="22860">
            <a:solidFill>
              <a:srgbClr val="22C55E"/>
            </a:solidFill>
            <a:headEnd type="none" w="sm" len="sm"/>
            <a:tailEnd type="triangle" w="sm" len="sm"/>
          </a:ln>
        </p:spPr>
      </p:cxnSp>
      <p:cxnSp>
        <p:nvCxnSpPr>
          <p:cNvPr id="1005" name="">
            <a:extLst>
              <a:ext uri="{FF2B5EF4-FFF2-40B4-BE49-F238E27FC236}">
                <a16:creationId xmlns:a16="http://schemas.microsoft.com/office/drawing/2014/main" id="{C343673E-ED64-4999-869B-AD1B6190B31A}"/>
              </a:ext>
            </a:extLst>
          </p:cNvPr>
          <p:cNvCxnSpPr>
            <a:stCxn id="1006" idx="3"/>
            <a:endCxn id="1012" idx="1"/>
          </p:cNvCxnSpPr>
          <p:nvPr/>
        </p:nvCxnSpPr>
        <p:spPr>
          <a:xfrm>
            <a:off x="3746500" y="2190750"/>
            <a:ext cx="889000" cy="990600"/>
          </a:xfrm>
          <a:prstGeom prst="bentConnector3">
            <a:avLst>
              <a:gd name="adj1" fmla="val 50000"/>
            </a:avLst>
          </a:prstGeom>
          <a:ln w="22860">
            <a:solidFill>
              <a:srgbClr val="21D4FD"/>
            </a:solidFill>
            <a:headEnd type="none" w="sm" len="sm"/>
            <a:tailEnd type="triangle" w="sm" len="sm"/>
          </a:ln>
        </p:spPr>
      </p:cxnSp>
      <p:sp>
        <p:nvSpPr>
          <p:cNvPr id="1006" name="invoice-from-job">
            <a:extLst>
              <a:ext uri="{FF2B5EF4-FFF2-40B4-BE49-F238E27FC236}">
                <a16:creationId xmlns:a16="http://schemas.microsoft.com/office/drawing/2014/main" id="{28255195-D08F-457D-B660-2BB50A01133A}"/>
              </a:ext>
            </a:extLst>
          </p:cNvPr>
          <p:cNvSpPr>
            <a:spLocks noGrp="1"/>
          </p:cNvSpPr>
          <p:nvPr/>
        </p:nvSpPr>
        <p:spPr>
          <a:xfrm>
            <a:off x="762000" y="1651000"/>
            <a:ext cx="2984500" cy="1079500"/>
          </a:xfrm>
          <a:prstGeom prst="roundRect">
            <a:avLst>
              <a:gd name="adj" fmla="val 10588"/>
            </a:avLst>
          </a:prstGeom>
          <a:solidFill>
            <a:srgbClr val="111A2E"/>
          </a:solidFill>
          <a:ln w="12700">
            <a:solidFill>
              <a:srgbClr val="21D4FD"/>
            </a:solidFill>
          </a:ln>
        </p:spPr>
      </p:sp>
      <p:sp>
        <p:nvSpPr>
          <p:cNvPr id="1007" name="invoice-from-job title">
            <a:extLst>
              <a:ext uri="{FF2B5EF4-FFF2-40B4-BE49-F238E27FC236}">
                <a16:creationId xmlns:a16="http://schemas.microsoft.com/office/drawing/2014/main" id="{34FEDFB4-D534-47F9-95E2-6EA831C8CBC6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2755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Rēķins no CRM darba</a:t>
            </a:r>
          </a:p>
        </p:txBody>
      </p:sp>
      <p:sp>
        <p:nvSpPr>
          <p:cNvPr id="1008" name="invoice-from-job description">
            <a:extLst>
              <a:ext uri="{FF2B5EF4-FFF2-40B4-BE49-F238E27FC236}">
                <a16:creationId xmlns:a16="http://schemas.microsoft.com/office/drawing/2014/main" id="{DCC450D8-CB35-42F3-B36C-01B663444A68}"/>
              </a:ext>
            </a:extLst>
          </p:cNvPr>
          <p:cNvSpPr>
            <a:spLocks noGrp="1"/>
          </p:cNvSpPr>
          <p:nvPr/>
        </p:nvSpPr>
        <p:spPr>
          <a:xfrm>
            <a:off x="876300" y="2159000"/>
            <a:ext cx="2755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Izmanto darba datus</a:t>
            </a:r>
          </a:p>
        </p:txBody>
      </p:sp>
      <p:sp>
        <p:nvSpPr>
          <p:cNvPr id="1009" name="manual-invoice">
            <a:extLst>
              <a:ext uri="{FF2B5EF4-FFF2-40B4-BE49-F238E27FC236}">
                <a16:creationId xmlns:a16="http://schemas.microsoft.com/office/drawing/2014/main" id="{06FBB461-83FC-4502-A361-A5F7E181E6B5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2984500" cy="1079500"/>
          </a:xfrm>
          <a:prstGeom prst="roundRect">
            <a:avLst>
              <a:gd name="adj" fmla="val 10588"/>
            </a:avLst>
          </a:prstGeom>
          <a:solidFill>
            <a:srgbClr val="111A2E"/>
          </a:solidFill>
          <a:ln w="12700">
            <a:solidFill>
              <a:srgbClr val="22C55E"/>
            </a:solidFill>
          </a:ln>
        </p:spPr>
      </p:sp>
      <p:sp>
        <p:nvSpPr>
          <p:cNvPr id="1010" name="manual-invoice title">
            <a:extLst>
              <a:ext uri="{FF2B5EF4-FFF2-40B4-BE49-F238E27FC236}">
                <a16:creationId xmlns:a16="http://schemas.microsoft.com/office/drawing/2014/main" id="{AD3EF081-62F2-4298-95BE-4A79D51F54C5}"/>
              </a:ext>
            </a:extLst>
          </p:cNvPr>
          <p:cNvSpPr>
            <a:spLocks noGrp="1"/>
          </p:cNvSpPr>
          <p:nvPr/>
        </p:nvSpPr>
        <p:spPr>
          <a:xfrm>
            <a:off x="876300" y="3721100"/>
            <a:ext cx="2755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Manuāls rēķins</a:t>
            </a:r>
          </a:p>
        </p:txBody>
      </p:sp>
      <p:sp>
        <p:nvSpPr>
          <p:cNvPr id="1011" name="manual-invoice description">
            <a:extLst>
              <a:ext uri="{FF2B5EF4-FFF2-40B4-BE49-F238E27FC236}">
                <a16:creationId xmlns:a16="http://schemas.microsoft.com/office/drawing/2014/main" id="{A0FE62CC-3C1E-4D4D-8A90-A0F882EA3FA3}"/>
              </a:ext>
            </a:extLst>
          </p:cNvPr>
          <p:cNvSpPr>
            <a:spLocks noGrp="1"/>
          </p:cNvSpPr>
          <p:nvPr/>
        </p:nvSpPr>
        <p:spPr>
          <a:xfrm>
            <a:off x="876300" y="4089400"/>
            <a:ext cx="2755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Datus ievada manuāli</a:t>
            </a:r>
          </a:p>
        </p:txBody>
      </p:sp>
      <p:sp>
        <p:nvSpPr>
          <p:cNvPr id="1012" name="invoice-preparation">
            <a:extLst>
              <a:ext uri="{FF2B5EF4-FFF2-40B4-BE49-F238E27FC236}">
                <a16:creationId xmlns:a16="http://schemas.microsoft.com/office/drawing/2014/main" id="{53E0A992-EDD1-4FD9-B7B1-59D364C4F061}"/>
              </a:ext>
            </a:extLst>
          </p:cNvPr>
          <p:cNvSpPr>
            <a:spLocks noGrp="1"/>
          </p:cNvSpPr>
          <p:nvPr/>
        </p:nvSpPr>
        <p:spPr>
          <a:xfrm>
            <a:off x="4635500" y="2552700"/>
            <a:ext cx="2921000" cy="1257300"/>
          </a:xfrm>
          <a:prstGeom prst="roundRect">
            <a:avLst>
              <a:gd name="adj" fmla="val 9091"/>
            </a:avLst>
          </a:prstGeom>
          <a:solidFill>
            <a:srgbClr val="111A2E"/>
          </a:solidFill>
          <a:ln w="12700">
            <a:solidFill>
              <a:srgbClr val="7C3AED"/>
            </a:solidFill>
          </a:ln>
        </p:spPr>
      </p:sp>
      <p:sp>
        <p:nvSpPr>
          <p:cNvPr id="1013" name="invoice-preparation title">
            <a:extLst>
              <a:ext uri="{FF2B5EF4-FFF2-40B4-BE49-F238E27FC236}">
                <a16:creationId xmlns:a16="http://schemas.microsoft.com/office/drawing/2014/main" id="{7AF43CA5-E819-493D-BF0D-B4133418FB84}"/>
              </a:ext>
            </a:extLst>
          </p:cNvPr>
          <p:cNvSpPr>
            <a:spLocks noGrp="1"/>
          </p:cNvSpPr>
          <p:nvPr/>
        </p:nvSpPr>
        <p:spPr>
          <a:xfrm>
            <a:off x="4749800" y="2692400"/>
            <a:ext cx="2692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Rēķina sagatavošana</a:t>
            </a:r>
          </a:p>
        </p:txBody>
      </p:sp>
      <p:sp>
        <p:nvSpPr>
          <p:cNvPr id="1014" name="invoice-preparation description">
            <a:extLst>
              <a:ext uri="{FF2B5EF4-FFF2-40B4-BE49-F238E27FC236}">
                <a16:creationId xmlns:a16="http://schemas.microsoft.com/office/drawing/2014/main" id="{A6DFC43A-F9CE-47FA-B7E6-33EA83C3B699}"/>
              </a:ext>
            </a:extLst>
          </p:cNvPr>
          <p:cNvSpPr>
            <a:spLocks noGrp="1"/>
          </p:cNvSpPr>
          <p:nvPr/>
        </p:nvSpPr>
        <p:spPr>
          <a:xfrm>
            <a:off x="4749800" y="3060700"/>
            <a:ext cx="2692400" cy="67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Profila iestatīšana un izmantošana</a:t>
            </a:r>
          </a:p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Numerācija</a:t>
            </a:r>
          </a:p>
        </p:txBody>
      </p:sp>
      <p:sp>
        <p:nvSpPr>
          <p:cNvPr id="1015" name="preview">
            <a:extLst>
              <a:ext uri="{FF2B5EF4-FFF2-40B4-BE49-F238E27FC236}">
                <a16:creationId xmlns:a16="http://schemas.microsoft.com/office/drawing/2014/main" id="{A4D5C63B-7F24-4773-A8D2-8FD10B4DEDBB}"/>
              </a:ext>
            </a:extLst>
          </p:cNvPr>
          <p:cNvSpPr>
            <a:spLocks noGrp="1"/>
          </p:cNvSpPr>
          <p:nvPr/>
        </p:nvSpPr>
        <p:spPr>
          <a:xfrm>
            <a:off x="8763000" y="1651000"/>
            <a:ext cx="2730500" cy="1016000"/>
          </a:xfrm>
          <a:prstGeom prst="roundRect">
            <a:avLst>
              <a:gd name="adj" fmla="val 11250"/>
            </a:avLst>
          </a:prstGeom>
          <a:solidFill>
            <a:srgbClr val="111A2E"/>
          </a:solidFill>
          <a:ln w="12700">
            <a:solidFill>
              <a:srgbClr val="F59E0B"/>
            </a:solidFill>
          </a:ln>
        </p:spPr>
      </p:sp>
      <p:sp>
        <p:nvSpPr>
          <p:cNvPr id="1016" name="preview title">
            <a:extLst>
              <a:ext uri="{FF2B5EF4-FFF2-40B4-BE49-F238E27FC236}">
                <a16:creationId xmlns:a16="http://schemas.microsoft.com/office/drawing/2014/main" id="{53181E43-8FE0-4097-8116-E8C2333C2D37}"/>
              </a:ext>
            </a:extLst>
          </p:cNvPr>
          <p:cNvSpPr>
            <a:spLocks noGrp="1"/>
          </p:cNvSpPr>
          <p:nvPr/>
        </p:nvSpPr>
        <p:spPr>
          <a:xfrm>
            <a:off x="8877300" y="1790700"/>
            <a:ext cx="2501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Priekšskatījums</a:t>
            </a:r>
          </a:p>
        </p:txBody>
      </p:sp>
      <p:sp>
        <p:nvSpPr>
          <p:cNvPr id="1017" name="preview description">
            <a:extLst>
              <a:ext uri="{FF2B5EF4-FFF2-40B4-BE49-F238E27FC236}">
                <a16:creationId xmlns:a16="http://schemas.microsoft.com/office/drawing/2014/main" id="{64A4DACE-7457-4433-9EB5-3C92B8495629}"/>
              </a:ext>
            </a:extLst>
          </p:cNvPr>
          <p:cNvSpPr>
            <a:spLocks noGrp="1"/>
          </p:cNvSpPr>
          <p:nvPr/>
        </p:nvSpPr>
        <p:spPr>
          <a:xfrm>
            <a:off x="8877300" y="2159000"/>
            <a:ext cx="25019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Rēķina pārbaude</a:t>
            </a:r>
          </a:p>
        </p:txBody>
      </p:sp>
      <p:sp>
        <p:nvSpPr>
          <p:cNvPr id="1018" name="pdf">
            <a:extLst>
              <a:ext uri="{FF2B5EF4-FFF2-40B4-BE49-F238E27FC236}">
                <a16:creationId xmlns:a16="http://schemas.microsoft.com/office/drawing/2014/main" id="{BE209F8F-248E-4CB0-BE15-DA972836A69B}"/>
              </a:ext>
            </a:extLst>
          </p:cNvPr>
          <p:cNvSpPr>
            <a:spLocks noGrp="1"/>
          </p:cNvSpPr>
          <p:nvPr/>
        </p:nvSpPr>
        <p:spPr>
          <a:xfrm>
            <a:off x="8763000" y="3581400"/>
            <a:ext cx="2730500" cy="1016000"/>
          </a:xfrm>
          <a:prstGeom prst="roundRect">
            <a:avLst>
              <a:gd name="adj" fmla="val 11250"/>
            </a:avLst>
          </a:prstGeom>
          <a:solidFill>
            <a:srgbClr val="111A2E"/>
          </a:solidFill>
          <a:ln w="12700">
            <a:solidFill>
              <a:srgbClr val="EF4444"/>
            </a:solidFill>
          </a:ln>
        </p:spPr>
      </p:sp>
      <p:sp>
        <p:nvSpPr>
          <p:cNvPr id="1019" name="pdf title">
            <a:extLst>
              <a:ext uri="{FF2B5EF4-FFF2-40B4-BE49-F238E27FC236}">
                <a16:creationId xmlns:a16="http://schemas.microsoft.com/office/drawing/2014/main" id="{EC2F4F45-9DA1-48B4-9C63-8D12BA907FD1}"/>
              </a:ext>
            </a:extLst>
          </p:cNvPr>
          <p:cNvSpPr>
            <a:spLocks noGrp="1"/>
          </p:cNvSpPr>
          <p:nvPr/>
        </p:nvSpPr>
        <p:spPr>
          <a:xfrm>
            <a:off x="8877300" y="3721100"/>
            <a:ext cx="25019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PDF ģenerēšana</a:t>
            </a:r>
          </a:p>
        </p:txBody>
      </p:sp>
      <p:sp>
        <p:nvSpPr>
          <p:cNvPr id="1020" name="pdf description">
            <a:extLst>
              <a:ext uri="{FF2B5EF4-FFF2-40B4-BE49-F238E27FC236}">
                <a16:creationId xmlns:a16="http://schemas.microsoft.com/office/drawing/2014/main" id="{A3CBAB44-3427-4D5B-9F28-EE430C70B21B}"/>
              </a:ext>
            </a:extLst>
          </p:cNvPr>
          <p:cNvSpPr>
            <a:spLocks noGrp="1"/>
          </p:cNvSpPr>
          <p:nvPr/>
        </p:nvSpPr>
        <p:spPr>
          <a:xfrm>
            <a:off x="8877300" y="4089400"/>
            <a:ext cx="25019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Rēķina lejupielāde</a:t>
            </a:r>
          </a:p>
        </p:txBody>
      </p:sp>
      <p:sp>
        <p:nvSpPr>
          <p:cNvPr id="1021" name="payment-status">
            <a:extLst>
              <a:ext uri="{FF2B5EF4-FFF2-40B4-BE49-F238E27FC236}">
                <a16:creationId xmlns:a16="http://schemas.microsoft.com/office/drawing/2014/main" id="{FEF34EC7-A21A-4CF3-8845-47A453AA434D}"/>
              </a:ext>
            </a:extLst>
          </p:cNvPr>
          <p:cNvSpPr>
            <a:spLocks noGrp="1"/>
          </p:cNvSpPr>
          <p:nvPr/>
        </p:nvSpPr>
        <p:spPr>
          <a:xfrm>
            <a:off x="4635500" y="4660900"/>
            <a:ext cx="2921000" cy="1016000"/>
          </a:xfrm>
          <a:prstGeom prst="roundRect">
            <a:avLst>
              <a:gd name="adj" fmla="val 11250"/>
            </a:avLst>
          </a:prstGeom>
          <a:solidFill>
            <a:srgbClr val="111A2E"/>
          </a:solidFill>
          <a:ln w="12700">
            <a:solidFill>
              <a:srgbClr val="22C55E"/>
            </a:solidFill>
          </a:ln>
        </p:spPr>
      </p:sp>
      <p:sp>
        <p:nvSpPr>
          <p:cNvPr id="1022" name="payment-status title">
            <a:extLst>
              <a:ext uri="{FF2B5EF4-FFF2-40B4-BE49-F238E27FC236}">
                <a16:creationId xmlns:a16="http://schemas.microsoft.com/office/drawing/2014/main" id="{67FDBEFC-41A2-4581-9DAB-62A5898786D8}"/>
              </a:ext>
            </a:extLst>
          </p:cNvPr>
          <p:cNvSpPr>
            <a:spLocks noGrp="1"/>
          </p:cNvSpPr>
          <p:nvPr/>
        </p:nvSpPr>
        <p:spPr>
          <a:xfrm>
            <a:off x="4749800" y="4800600"/>
            <a:ext cx="26924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Apmaksas statuss</a:t>
            </a:r>
          </a:p>
        </p:txBody>
      </p:sp>
      <p:sp>
        <p:nvSpPr>
          <p:cNvPr id="1023" name="payment-status description">
            <a:extLst>
              <a:ext uri="{FF2B5EF4-FFF2-40B4-BE49-F238E27FC236}">
                <a16:creationId xmlns:a16="http://schemas.microsoft.com/office/drawing/2014/main" id="{77835A70-4C82-4573-AA0D-21456596A9C4}"/>
              </a:ext>
            </a:extLst>
          </p:cNvPr>
          <p:cNvSpPr>
            <a:spLocks noGrp="1"/>
          </p:cNvSpPr>
          <p:nvPr/>
        </p:nvSpPr>
        <p:spPr>
          <a:xfrm>
            <a:off x="4749800" y="5168900"/>
            <a:ext cx="26924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Statusa maiņa CRM sistēmā</a:t>
            </a:r>
          </a:p>
        </p:txBody>
      </p:sp>
      <p:sp>
        <p:nvSpPr>
          <p:cNvPr id="1024" name="alternative-label">
            <a:extLst>
              <a:ext uri="{FF2B5EF4-FFF2-40B4-BE49-F238E27FC236}">
                <a16:creationId xmlns:a16="http://schemas.microsoft.com/office/drawing/2014/main" id="{72E1DCF9-AB97-4C97-8645-7F5F09C0A113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29845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Divi alternatīvi izveides veidi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Lietotāja saskarne un testēšana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Izskats un pārbaudes process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41E8C47-4A3C-4A9F-9752-66BCA1121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01" name="screenshot-panel">
            <a:extLst>
              <a:ext uri="{FF2B5EF4-FFF2-40B4-BE49-F238E27FC236}">
                <a16:creationId xmlns:a16="http://schemas.microsoft.com/office/drawing/2014/main" id="{A9DD4DC0-97E1-4741-AB58-FCEA944F1EA9}"/>
              </a:ext>
            </a:extLst>
          </p:cNvPr>
          <p:cNvSpPr>
            <a:spLocks noGrp="1"/>
          </p:cNvSpPr>
          <p:nvPr/>
        </p:nvSpPr>
        <p:spPr>
          <a:xfrm>
            <a:off x="762000" y="1295400"/>
            <a:ext cx="7620000" cy="4368800"/>
          </a:xfrm>
          <a:prstGeom prst="roundRect">
            <a:avLst>
              <a:gd name="adj" fmla="val 2616"/>
            </a:avLst>
          </a:prstGeom>
          <a:solidFill>
            <a:srgbClr val="111A2E"/>
          </a:solidFill>
          <a:ln w="12700">
            <a:solidFill>
              <a:srgbClr val="263449"/>
            </a:solidFill>
          </a:ln>
        </p:spPr>
      </p:sp>
      <p:pic>
        <p:nvPicPr>
          <p:cNvPr id="1002" name="">
            <a:extLst>
              <a:ext uri="{FF2B5EF4-FFF2-40B4-BE49-F238E27FC236}">
                <a16:creationId xmlns:a16="http://schemas.microsoft.com/office/drawing/2014/main" id="{15BD2118-D132-4347-A19E-1CD17C767C95}"/>
              </a:ext>
            </a:extLst>
          </p:cNvPr>
          <p:cNvPicPr>
            <a:picLocks noChangeAspect="1"/>
          </p:cNvPicPr>
          <p:nvPr/>
        </p:nvPicPr>
        <p:blipFill>
          <a:blip r:embed="rIdAuditScreenshot"/>
          <a:stretch/>
        </p:blipFill>
        <p:spPr>
          <a:xfrm>
            <a:off x="891892" y="1447800"/>
            <a:ext cx="7360215" cy="4051300"/>
          </a:xfrm>
          <a:prstGeom prst="rect">
            <a:avLst/>
          </a:prstGeom>
        </p:spPr>
      </p:pic>
      <p:sp>
        <p:nvSpPr>
          <p:cNvPr id="1003" name="testing-panel">
            <a:extLst>
              <a:ext uri="{FF2B5EF4-FFF2-40B4-BE49-F238E27FC236}">
                <a16:creationId xmlns:a16="http://schemas.microsoft.com/office/drawing/2014/main" id="{D3372875-7431-4332-8F47-E17DABCA141D}"/>
              </a:ext>
            </a:extLst>
          </p:cNvPr>
          <p:cNvSpPr>
            <a:spLocks noGrp="1"/>
          </p:cNvSpPr>
          <p:nvPr/>
        </p:nvSpPr>
        <p:spPr>
          <a:xfrm>
            <a:off x="8648700" y="1295400"/>
            <a:ext cx="2844800" cy="4368800"/>
          </a:xfrm>
          <a:prstGeom prst="roundRect">
            <a:avLst>
              <a:gd name="adj" fmla="val 4018"/>
            </a:avLst>
          </a:prstGeom>
          <a:solidFill>
            <a:srgbClr val="111A2E"/>
          </a:solidFill>
          <a:ln w="12700">
            <a:solidFill>
              <a:srgbClr val="263449"/>
            </a:solidFill>
          </a:ln>
        </p:spPr>
      </p:sp>
      <p:sp>
        <p:nvSpPr>
          <p:cNvPr id="1004" name="testing-title">
            <a:extLst>
              <a:ext uri="{FF2B5EF4-FFF2-40B4-BE49-F238E27FC236}">
                <a16:creationId xmlns:a16="http://schemas.microsoft.com/office/drawing/2014/main" id="{2056B96D-C552-4CE3-8AC5-A0593C60FAD7}"/>
              </a:ext>
            </a:extLst>
          </p:cNvPr>
          <p:cNvSpPr>
            <a:spLocks noGrp="1"/>
          </p:cNvSpPr>
          <p:nvPr/>
        </p:nvSpPr>
        <p:spPr>
          <a:xfrm>
            <a:off x="8851900" y="1511300"/>
            <a:ext cx="24384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00" b="1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Manuālā testēšana</a:t>
            </a:r>
          </a:p>
        </p:txBody>
      </p:sp>
      <p:sp>
        <p:nvSpPr>
          <p:cNvPr id="1101" name="testing-point-1">
            <a:extLst>
              <a:ext uri="{FF2B5EF4-FFF2-40B4-BE49-F238E27FC236}" cy="787400">
                <a16:creationId xmlns:a16="http://schemas.microsoft.com/office/drawing/2014/main" id="{BE92DB4C-8231-467E-AA57-7EB9204194B9}"/>
              </a:ext>
            </a:extLst>
          </p:cNvPr>
          <p:cNvSpPr>
            <a:spLocks noGrp="1"/>
          </p:cNvSpPr>
          <p:nvPr/>
        </p:nvSpPr>
        <p:spPr>
          <a:xfrm>
            <a:off x="8851900" y="2197100"/>
            <a:ext cx="2438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90500" indent="-190500">
              <a:buChar char="•"/>
            </a:pPr>
            <a:r>
              <a:rPr sz="1700" lang="lv-LV">
                <a:solidFill>
                  <a:srgbClr val="F8FAFC"/>
                </a:solidFill>
                <a:latin typeface="Calibri"/>
              </a:rPr>
              <a:t>Darbu un klientu</a:t>
            </a:r>
            <a:br/>
            <a:r>
              <a:rPr sz="1700" lang="lv-LV">
                <a:solidFill>
                  <a:srgbClr val="F8FAFC"/>
                </a:solidFill>
                <a:latin typeface="Calibri"/>
              </a:rPr>
              <a:t>pārvaldība</a:t>
            </a:r>
          </a:p>
        </p:txBody>
      </p:sp>
      <p:sp>
        <p:nvSpPr>
          <p:cNvPr id="1102" name="testing-point-2">
            <a:extLst>
              <a:ext uri="{FF2B5EF4-FFF2-40B4-BE49-F238E27FC236}" cy="787400">
                <a16:creationId xmlns:a16="http://schemas.microsoft.com/office/drawing/2014/main" id="{BE92DB4C-8231-467E-AA57-7EB9204194B9}"/>
              </a:ext>
            </a:extLst>
          </p:cNvPr>
          <p:cNvSpPr>
            <a:spLocks noGrp="1"/>
          </p:cNvSpPr>
          <p:nvPr/>
        </p:nvSpPr>
        <p:spPr>
          <a:xfrm>
            <a:off x="8851900" y="3162300"/>
            <a:ext cx="2438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90500" indent="-190500">
              <a:buChar char="•"/>
            </a:pPr>
            <a:r>
              <a:rPr sz="1700" lang="lv-LV">
                <a:solidFill>
                  <a:srgbClr val="F8FAFC"/>
                </a:solidFill>
                <a:latin typeface="Calibri"/>
              </a:rPr>
              <a:t>Filtri un statusu</a:t>
            </a:r>
            <a:br/>
            <a:r>
              <a:rPr sz="1700" lang="lv-LV">
                <a:solidFill>
                  <a:srgbClr val="F8FAFC"/>
                </a:solidFill>
                <a:latin typeface="Calibri"/>
              </a:rPr>
              <a:t>maiņa</a:t>
            </a:r>
          </a:p>
        </p:txBody>
      </p:sp>
      <p:sp>
        <p:nvSpPr>
          <p:cNvPr id="1103" name="testing-point-3">
            <a:extLst>
              <a:ext uri="{FF2B5EF4-FFF2-40B4-BE49-F238E27FC236}" cy="787400">
                <a16:creationId xmlns:a16="http://schemas.microsoft.com/office/drawing/2014/main" id="{BE92DB4C-8231-467E-AA57-7EB9204194B9}"/>
              </a:ext>
            </a:extLst>
          </p:cNvPr>
          <p:cNvSpPr>
            <a:spLocks noGrp="1"/>
          </p:cNvSpPr>
          <p:nvPr/>
        </p:nvSpPr>
        <p:spPr>
          <a:xfrm>
            <a:off x="8851900" y="4127500"/>
            <a:ext cx="2438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90500" indent="-190500">
              <a:buChar char="•"/>
            </a:pPr>
            <a:r>
              <a:rPr sz="1700" lang="lv-LV">
                <a:solidFill>
                  <a:srgbClr val="F8FAFC"/>
                </a:solidFill>
                <a:latin typeface="Calibri"/>
              </a:rPr>
              <a:t>Rēķinu un PDF</a:t>
            </a:r>
            <a:br/>
            <a:r>
              <a:rPr sz="1700" lang="lv-LV">
                <a:solidFill>
                  <a:srgbClr val="F8FAFC"/>
                </a:solidFill>
                <a:latin typeface="Calibri"/>
              </a:rPr>
              <a:t>pārbaude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1"/>
          <p:cNvSpPr/>
          <p:nvPr/>
        </p:nvSpPr>
        <p:spPr>
          <a:xfrm>
            <a:off x="567000" y="311040"/>
            <a:ext cx="10668000" cy="4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Secinājumi un turpmākā attīstība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2"/>
          <p:cNvSpPr/>
          <p:nvPr/>
        </p:nvSpPr>
        <p:spPr>
          <a:xfrm>
            <a:off x="576000" y="749880"/>
            <a:ext cx="68576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Rezultāts un iespējamie uzlabojumi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3"/>
          <p:cNvSpPr/>
          <p:nvPr/>
        </p:nvSpPr>
        <p:spPr>
          <a:xfrm>
            <a:off x="566640" y="960120"/>
            <a:ext cx="1234440" cy="360"/>
          </a:xfrm>
          <a:prstGeom prst="line">
            <a:avLst/>
          </a:prstGeom>
          <a:ln w="2794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4"/>
          <p:cNvSpPr/>
          <p:nvPr/>
        </p:nvSpPr>
        <p:spPr>
          <a:xfrm>
            <a:off x="731520" y="1325880"/>
            <a:ext cx="5303160" cy="3200760"/>
          </a:xfrm>
          <a:prstGeom prst="roundRect">
            <a:avLst>
              <a:gd name="adj" fmla="val 2526"/>
            </a:avLst>
          </a:prstGeom>
          <a:solidFill>
            <a:srgbClr val="101A2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5"/>
          <p:cNvSpPr/>
          <p:nvPr/>
        </p:nvSpPr>
        <p:spPr>
          <a:xfrm>
            <a:off x="1051560" y="1691640"/>
            <a:ext cx="4064000" cy="342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Secinājumi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6"/>
          <p:cNvSpPr/>
          <p:nvPr/>
        </p:nvSpPr>
        <p:spPr>
          <a:xfrm>
            <a:off x="1060560" y="2402543"/>
            <a:ext cx="100080" cy="10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7"/>
          <p:cNvSpPr/>
          <p:nvPr/>
        </p:nvSpPr>
        <p:spPr>
          <a:xfrm>
            <a:off x="1261800" y="2212920"/>
            <a:ext cx="4445000" cy="469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Izstrādāts funkcionāls CRM prototips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8"/>
          <p:cNvSpPr/>
          <p:nvPr/>
        </p:nvSpPr>
        <p:spPr>
          <a:xfrm>
            <a:off x="1060560" y="2887499"/>
            <a:ext cx="100080" cy="10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9"/>
          <p:cNvSpPr/>
          <p:nvPr/>
        </p:nvSpPr>
        <p:spPr>
          <a:xfrm>
            <a:off x="1261800" y="2706480"/>
            <a:ext cx="4445000" cy="469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Dati </a:t>
            </a:r>
            <a:r>
              <a:rPr lang="en-US" sz="16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tiek</a:t>
            </a:r>
            <a:r>
              <a:rPr lang="en-US" sz="16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glabāti</a:t>
            </a:r>
            <a:r>
              <a:rPr lang="en-US" sz="16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centralizēti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20"/>
          <p:cNvSpPr/>
          <p:nvPr/>
        </p:nvSpPr>
        <p:spPr>
          <a:xfrm>
            <a:off x="1060560" y="3390024"/>
            <a:ext cx="100080" cy="10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1"/>
          <p:cNvSpPr/>
          <p:nvPr/>
        </p:nvSpPr>
        <p:spPr>
          <a:xfrm>
            <a:off x="1261800" y="3200400"/>
            <a:ext cx="4445000" cy="469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Rēķinus iespējams ģenerēt PDF formātā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2"/>
          <p:cNvSpPr/>
          <p:nvPr/>
        </p:nvSpPr>
        <p:spPr>
          <a:xfrm>
            <a:off x="1060560" y="3883941"/>
            <a:ext cx="100080" cy="10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3"/>
          <p:cNvSpPr/>
          <p:nvPr/>
        </p:nvSpPr>
        <p:spPr>
          <a:xfrm>
            <a:off x="1261800" y="3694320"/>
            <a:ext cx="4445000" cy="469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Sistēma </a:t>
            </a:r>
            <a:r>
              <a:rPr lang="en-US" sz="16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piemērota</a:t>
            </a:r>
            <a:r>
              <a:rPr lang="en-US" sz="16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lokālai</a:t>
            </a:r>
            <a:r>
              <a:rPr lang="en-US" sz="1600" b="0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0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demonstrācijai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4"/>
          <p:cNvSpPr/>
          <p:nvPr/>
        </p:nvSpPr>
        <p:spPr>
          <a:xfrm>
            <a:off x="6355080" y="1325880"/>
            <a:ext cx="5120280" cy="3200760"/>
          </a:xfrm>
          <a:prstGeom prst="roundRect">
            <a:avLst>
              <a:gd name="adj" fmla="val 2526"/>
            </a:avLst>
          </a:prstGeom>
          <a:solidFill>
            <a:srgbClr val="101A2E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5"/>
          <p:cNvSpPr/>
          <p:nvPr/>
        </p:nvSpPr>
        <p:spPr>
          <a:xfrm>
            <a:off x="6675120" y="1691640"/>
            <a:ext cx="4064000" cy="342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Turpmākā attīstība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26"/>
          <p:cNvSpPr/>
          <p:nvPr/>
        </p:nvSpPr>
        <p:spPr>
          <a:xfrm>
            <a:off x="6693480" y="24257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27"/>
          <p:cNvSpPr/>
          <p:nvPr/>
        </p:nvSpPr>
        <p:spPr>
          <a:xfrm>
            <a:off x="6894720" y="2260600"/>
            <a:ext cx="1841500" cy="5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Autentifikācija</a:t>
            </a:r>
          </a:p>
        </p:txBody>
      </p:sp>
      <p:sp>
        <p:nvSpPr>
          <p:cNvPr id="503" name="Shape 28"/>
          <p:cNvSpPr/>
          <p:nvPr/>
        </p:nvSpPr>
        <p:spPr>
          <a:xfrm>
            <a:off x="6693480" y="30480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9"/>
          <p:cNvSpPr/>
          <p:nvPr/>
        </p:nvSpPr>
        <p:spPr>
          <a:xfrm>
            <a:off x="6894720" y="2882900"/>
            <a:ext cx="1841500" cy="5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Lietotāju lomas</a:t>
            </a:r>
          </a:p>
        </p:txBody>
      </p:sp>
      <p:sp>
        <p:nvSpPr>
          <p:cNvPr id="505" name="Shape 30"/>
          <p:cNvSpPr/>
          <p:nvPr/>
        </p:nvSpPr>
        <p:spPr>
          <a:xfrm>
            <a:off x="6693480" y="3670300"/>
            <a:ext cx="100080" cy="10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31"/>
          <p:cNvSpPr/>
          <p:nvPr/>
        </p:nvSpPr>
        <p:spPr>
          <a:xfrm>
            <a:off x="6894720" y="3505200"/>
            <a:ext cx="1841500" cy="5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CSRF aizsardzība</a:t>
            </a:r>
          </a:p>
        </p:txBody>
      </p:sp>
      <p:sp>
        <p:nvSpPr>
          <p:cNvPr id="507" name="Shape 32"/>
          <p:cNvSpPr/>
          <p:nvPr/>
        </p:nvSpPr>
        <p:spPr>
          <a:xfrm>
            <a:off x="8942760" y="2425700"/>
            <a:ext cx="100080" cy="10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33"/>
          <p:cNvSpPr/>
          <p:nvPr/>
        </p:nvSpPr>
        <p:spPr>
          <a:xfrm>
            <a:off x="9144000" y="2260600"/>
            <a:ext cx="1841500" cy="5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Pilna maksājumu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vēsture</a:t>
            </a:r>
          </a:p>
        </p:txBody>
      </p:sp>
      <p:sp>
        <p:nvSpPr>
          <p:cNvPr id="509" name="Shape 34"/>
          <p:cNvSpPr/>
          <p:nvPr/>
        </p:nvSpPr>
        <p:spPr>
          <a:xfrm>
            <a:off x="8942760" y="3048000"/>
            <a:ext cx="100080" cy="10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35"/>
          <p:cNvSpPr/>
          <p:nvPr/>
        </p:nvSpPr>
        <p:spPr>
          <a:xfrm>
            <a:off x="9144000" y="2882900"/>
            <a:ext cx="1841500" cy="5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Datu eksports</a:t>
            </a:r>
          </a:p>
        </p:txBody>
      </p:sp>
      <p:sp>
        <p:nvSpPr>
          <p:cNvPr id="511" name="Shape 36"/>
          <p:cNvSpPr/>
          <p:nvPr/>
        </p:nvSpPr>
        <p:spPr>
          <a:xfrm>
            <a:off x="8942760" y="3670300"/>
            <a:ext cx="100080" cy="10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37"/>
          <p:cNvSpPr/>
          <p:nvPr/>
        </p:nvSpPr>
        <p:spPr>
          <a:xfrm>
            <a:off x="9144000" y="3505200"/>
            <a:ext cx="1841500" cy="5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Plašāka mobilā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saskarne</a:t>
            </a:r>
          </a:p>
        </p:txBody>
      </p:sp>
      <p:sp>
        <p:nvSpPr>
          <p:cNvPr id="513" name="Shape 38"/>
          <p:cNvSpPr/>
          <p:nvPr/>
        </p:nvSpPr>
        <p:spPr>
          <a:xfrm>
            <a:off x="2541960" y="5041900"/>
            <a:ext cx="7314840" cy="444500"/>
          </a:xfrm>
          <a:prstGeom prst="roundRect">
            <a:avLst>
              <a:gd name="adj" fmla="val 28571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39"/>
          <p:cNvSpPr/>
          <p:nvPr/>
        </p:nvSpPr>
        <p:spPr>
          <a:xfrm>
            <a:off x="2615040" y="5092700"/>
            <a:ext cx="7168680" cy="342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wrap="square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Prototips</a:t>
            </a:r>
            <a:r>
              <a:rPr lang="en-US" sz="14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ir </a:t>
            </a:r>
            <a:r>
              <a:rPr lang="en-US" sz="14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stabils</a:t>
            </a:r>
            <a:r>
              <a:rPr lang="en-US" sz="14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pamats</a:t>
            </a:r>
            <a:r>
              <a:rPr lang="en-US" sz="14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tālākai</a:t>
            </a:r>
            <a:r>
              <a:rPr lang="en-US" sz="1400" b="1" u="none" strike="noStrike" dirty="0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 CRM sistēmas </a:t>
            </a:r>
            <a:r>
              <a:rPr lang="en-US" sz="1400" b="1" u="none" strike="noStrike" dirty="0" err="1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attīstībai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3141AC6-20F5-4EE0-AC79-F7D1F6046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9921240" y="45720"/>
            <a:ext cx="2239920" cy="2239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"/>
          <p:cNvSpPr/>
          <p:nvPr/>
        </p:nvSpPr>
        <p:spPr>
          <a:xfrm>
            <a:off x="0" y="5257800"/>
            <a:ext cx="1782720" cy="1782720"/>
          </a:xfrm>
          <a:prstGeom prst="ellipse">
            <a:avLst/>
          </a:prstGeom>
          <a:solidFill>
            <a:srgbClr val="21D4FD">
              <a:alpha val="22000"/>
            </a:srgbClr>
          </a:solidFill>
          <a:ln w="12700">
            <a:solidFill>
              <a:srgbClr val="21D4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3"/>
          <p:cNvSpPr/>
          <p:nvPr/>
        </p:nvSpPr>
        <p:spPr>
          <a:xfrm>
            <a:off x="914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4"/>
          <p:cNvSpPr/>
          <p:nvPr/>
        </p:nvSpPr>
        <p:spPr>
          <a:xfrm>
            <a:off x="27432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5"/>
          <p:cNvSpPr/>
          <p:nvPr/>
        </p:nvSpPr>
        <p:spPr>
          <a:xfrm>
            <a:off x="45720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6"/>
          <p:cNvSpPr/>
          <p:nvPr/>
        </p:nvSpPr>
        <p:spPr>
          <a:xfrm>
            <a:off x="64008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7"/>
          <p:cNvSpPr/>
          <p:nvPr/>
        </p:nvSpPr>
        <p:spPr>
          <a:xfrm>
            <a:off x="82296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8"/>
          <p:cNvSpPr/>
          <p:nvPr/>
        </p:nvSpPr>
        <p:spPr>
          <a:xfrm>
            <a:off x="10058400" y="365760"/>
            <a:ext cx="360" cy="5943600"/>
          </a:xfrm>
          <a:prstGeom prst="line">
            <a:avLst/>
          </a:prstGeom>
          <a:ln w="5080">
            <a:solidFill>
              <a:srgbClr val="1E293B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0"/>
          <p:cNvSpPr/>
          <p:nvPr/>
        </p:nvSpPr>
        <p:spPr>
          <a:xfrm>
            <a:off x="11219760" y="6355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1D4FD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1"/>
          <p:cNvSpPr/>
          <p:nvPr/>
        </p:nvSpPr>
        <p:spPr>
          <a:xfrm>
            <a:off x="1188720" y="2148840"/>
            <a:ext cx="9875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Paldies par uzmanību!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2"/>
          <p:cNvSpPr/>
          <p:nvPr/>
        </p:nvSpPr>
        <p:spPr>
          <a:xfrm>
            <a:off x="4846320" y="3063240"/>
            <a:ext cx="2468880" cy="360"/>
          </a:xfrm>
          <a:prstGeom prst="line">
            <a:avLst/>
          </a:prstGeom>
          <a:ln w="38100">
            <a:solidFill>
              <a:srgbClr val="21D4F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3"/>
          <p:cNvSpPr/>
          <p:nvPr/>
        </p:nvSpPr>
        <p:spPr>
          <a:xfrm>
            <a:off x="3794760" y="35204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lv-LV" sz="1900" b="1" dirty="0">
                <a:solidFill>
                  <a:srgbClr val="21D4FD"/>
                </a:solidFill>
                <a:latin typeface="Calibri"/>
              </a:rPr>
              <a:t>Labprāt atbildēšu uz jautājumiem.</a:t>
            </a:r>
            <a:endParaRPr lang="en-US" sz="1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4ABA2F-339D-4B55-B500-229889D86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80" y="5993327"/>
            <a:ext cx="3931920" cy="343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585</Words>
  <Application>Microsoft Office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win_11</dc:creator>
  <cp:lastModifiedBy>Ronalds Gigelis</cp:lastModifiedBy>
  <cp:revision>12</cp:revision>
  <dcterms:modified xsi:type="dcterms:W3CDTF">2026-06-15T23:29:52Z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2026-06-15T21:03:43Z</dcterms:created>
  <dc:creator>Ronalds Gigelis</dc:creator>
  <dc:description/>
  <dc:language>en-US</dc:language>
  <cp:lastModifiedBy>Ronalds Gigelis</cp:lastModifiedBy>
  <dcterms:modified xsi:type="dcterms:W3CDTF">2026-06-15T21:03:43Z</dcterms:modified>
  <cp:revision>1</cp:revision>
  <dc:subject>CRM sistēmas prototipa prezentācija</dc:subject>
  <dc:title>CRM sistēmas prototipa izstrāde pakalpojumu uzņēmuma darbu un rēķinu pārvaldībai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